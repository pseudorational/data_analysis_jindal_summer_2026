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431" r:id="rId2"/>
    <p:sldId id="432" r:id="rId3"/>
    <p:sldId id="526" r:id="rId4"/>
    <p:sldId id="261" r:id="rId5"/>
    <p:sldId id="428" r:id="rId6"/>
    <p:sldId id="418" r:id="rId7"/>
    <p:sldId id="419" r:id="rId8"/>
    <p:sldId id="425" r:id="rId9"/>
    <p:sldId id="426" r:id="rId10"/>
    <p:sldId id="427" r:id="rId11"/>
    <p:sldId id="527" r:id="rId12"/>
    <p:sldId id="315" r:id="rId13"/>
    <p:sldId id="524" r:id="rId14"/>
    <p:sldId id="319" r:id="rId15"/>
    <p:sldId id="320" r:id="rId16"/>
    <p:sldId id="321" r:id="rId17"/>
    <p:sldId id="322" r:id="rId18"/>
    <p:sldId id="334" r:id="rId19"/>
    <p:sldId id="335" r:id="rId20"/>
    <p:sldId id="336" r:id="rId21"/>
    <p:sldId id="298" r:id="rId22"/>
    <p:sldId id="300" r:id="rId23"/>
    <p:sldId id="325" r:id="rId24"/>
    <p:sldId id="326" r:id="rId25"/>
    <p:sldId id="329" r:id="rId26"/>
    <p:sldId id="330" r:id="rId27"/>
    <p:sldId id="331" r:id="rId28"/>
    <p:sldId id="333" r:id="rId29"/>
    <p:sldId id="332" r:id="rId30"/>
    <p:sldId id="528" r:id="rId31"/>
    <p:sldId id="529"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2" d="100"/>
          <a:sy n="112" d="100"/>
        </p:scale>
        <p:origin x="4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F9CF86-1644-48B0-BC70-35EF44D95368}" type="datetimeFigureOut">
              <a:rPr lang="en-US" smtClean="0"/>
              <a:t>6/29/2026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231A82-ADDE-4A35-950F-B3A37523C19C}" type="slidenum">
              <a:rPr lang="en-US" smtClean="0"/>
              <a:t>‹#›</a:t>
            </a:fld>
            <a:endParaRPr lang="en-US"/>
          </a:p>
        </p:txBody>
      </p:sp>
    </p:spTree>
    <p:extLst>
      <p:ext uri="{BB962C8B-B14F-4D97-AF65-F5344CB8AC3E}">
        <p14:creationId xmlns:p14="http://schemas.microsoft.com/office/powerpoint/2010/main" val="2004657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E7DE1BE8-7A2A-46AC-A858-55E24F887B18}" type="datetime1">
              <a:rPr lang="en-US" smtClean="0"/>
              <a:t>6/29/2026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r>
              <a:rPr lang="en-US"/>
              <a:t>© 2026 Vishal Lala</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B9FD85AE-1124-49A6-8860-0DC337D80F96}"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307474724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979627-1AB3-48D5-AF31-366479A21BDE}" type="datetime1">
              <a:rPr lang="en-US" smtClean="0"/>
              <a:t>6/29/2026</a:t>
            </a:fld>
            <a:endParaRPr lang="en-US"/>
          </a:p>
        </p:txBody>
      </p:sp>
      <p:sp>
        <p:nvSpPr>
          <p:cNvPr id="5" name="Footer Placeholder 4"/>
          <p:cNvSpPr>
            <a:spLocks noGrp="1"/>
          </p:cNvSpPr>
          <p:nvPr>
            <p:ph type="ftr" sz="quarter" idx="11"/>
          </p:nvPr>
        </p:nvSpPr>
        <p:spPr/>
        <p:txBody>
          <a:bodyPr/>
          <a:lstStyle/>
          <a:p>
            <a:r>
              <a:rPr lang="en-US"/>
              <a:t>© 2026 Vishal Lala</a:t>
            </a:r>
          </a:p>
        </p:txBody>
      </p:sp>
      <p:sp>
        <p:nvSpPr>
          <p:cNvPr id="6" name="Slide Number Placeholder 5"/>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1320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1D333CF6-DDE9-4674-8AC8-8818102C7C5A}" type="datetime1">
              <a:rPr lang="en-US" smtClean="0"/>
              <a:t>6/29/2026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a:t>© 2026 Vishal Lala</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B9FD85AE-1124-49A6-8860-0DC337D80F96}"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11957757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1EB80B-2791-4A94-97BC-B8FB59270D5C}" type="datetime1">
              <a:rPr lang="en-US" smtClean="0"/>
              <a:t>6/29/2026</a:t>
            </a:fld>
            <a:endParaRPr lang="en-US"/>
          </a:p>
        </p:txBody>
      </p:sp>
      <p:sp>
        <p:nvSpPr>
          <p:cNvPr id="6" name="Footer Placeholder 5"/>
          <p:cNvSpPr>
            <a:spLocks noGrp="1"/>
          </p:cNvSpPr>
          <p:nvPr>
            <p:ph type="ftr" sz="quarter" idx="11"/>
          </p:nvPr>
        </p:nvSpPr>
        <p:spPr/>
        <p:txBody>
          <a:bodyPr/>
          <a:lstStyle/>
          <a:p>
            <a:r>
              <a:rPr lang="en-US"/>
              <a:t>© 2026 Vishal Lala</a:t>
            </a:r>
          </a:p>
        </p:txBody>
      </p:sp>
      <p:sp>
        <p:nvSpPr>
          <p:cNvPr id="7" name="Slide Number Placeholder 6"/>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3236536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D06AE3-12A1-4958-BED0-F87A015485A4}" type="datetime1">
              <a:rPr lang="en-US" smtClean="0"/>
              <a:t>6/29/2026</a:t>
            </a:fld>
            <a:endParaRPr lang="en-US"/>
          </a:p>
        </p:txBody>
      </p:sp>
      <p:sp>
        <p:nvSpPr>
          <p:cNvPr id="8" name="Footer Placeholder 7"/>
          <p:cNvSpPr>
            <a:spLocks noGrp="1"/>
          </p:cNvSpPr>
          <p:nvPr>
            <p:ph type="ftr" sz="quarter" idx="11"/>
          </p:nvPr>
        </p:nvSpPr>
        <p:spPr/>
        <p:txBody>
          <a:bodyPr/>
          <a:lstStyle/>
          <a:p>
            <a:r>
              <a:rPr lang="en-US"/>
              <a:t>© 2026 Vishal Lala</a:t>
            </a:r>
          </a:p>
        </p:txBody>
      </p:sp>
      <p:sp>
        <p:nvSpPr>
          <p:cNvPr id="9" name="Slide Number Placeholder 8"/>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19373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31AAC4-B0C4-4E3E-A3AB-C7B896A6FC08}" type="datetime1">
              <a:rPr lang="en-US" smtClean="0"/>
              <a:t>6/29/2026</a:t>
            </a:fld>
            <a:endParaRPr lang="en-US"/>
          </a:p>
        </p:txBody>
      </p:sp>
      <p:sp>
        <p:nvSpPr>
          <p:cNvPr id="4" name="Footer Placeholder 3"/>
          <p:cNvSpPr>
            <a:spLocks noGrp="1"/>
          </p:cNvSpPr>
          <p:nvPr>
            <p:ph type="ftr" sz="quarter" idx="11"/>
          </p:nvPr>
        </p:nvSpPr>
        <p:spPr/>
        <p:txBody>
          <a:bodyPr/>
          <a:lstStyle/>
          <a:p>
            <a:r>
              <a:rPr lang="en-US"/>
              <a:t>© 2026 Vishal Lala</a:t>
            </a:r>
          </a:p>
        </p:txBody>
      </p:sp>
      <p:sp>
        <p:nvSpPr>
          <p:cNvPr id="5" name="Slide Number Placeholder 4"/>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908750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7BA542-7A3C-4464-8C9B-B9F5B36EB46B}" type="datetime1">
              <a:rPr lang="en-US" smtClean="0"/>
              <a:t>6/29/2026</a:t>
            </a:fld>
            <a:endParaRPr lang="en-US"/>
          </a:p>
        </p:txBody>
      </p:sp>
      <p:sp>
        <p:nvSpPr>
          <p:cNvPr id="3" name="Footer Placeholder 2"/>
          <p:cNvSpPr>
            <a:spLocks noGrp="1"/>
          </p:cNvSpPr>
          <p:nvPr>
            <p:ph type="ftr" sz="quarter" idx="11"/>
          </p:nvPr>
        </p:nvSpPr>
        <p:spPr/>
        <p:txBody>
          <a:bodyPr/>
          <a:lstStyle/>
          <a:p>
            <a:r>
              <a:rPr lang="en-US"/>
              <a:t>© 2026 Vishal Lala</a:t>
            </a:r>
          </a:p>
        </p:txBody>
      </p:sp>
      <p:sp>
        <p:nvSpPr>
          <p:cNvPr id="4" name="Slide Number Placeholder 3"/>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1181453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36BB49DA-1BC4-48E5-AEB4-0E5B8EDDD5F4}" type="datetime1">
              <a:rPr lang="en-US" smtClean="0"/>
              <a:t>6/29/2026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 2026 Vishal Lala</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9FD85AE-1124-49A6-8860-0DC337D80F96}"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1271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251634F-89FB-4A7F-9635-0AC680D9F4FC}" type="datetime1">
              <a:rPr lang="en-US" smtClean="0"/>
              <a:t>6/29/2026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 2026 Vishal Lala</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9FD85AE-1124-49A6-8860-0DC337D80F96}"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98087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78B3F3-C2E3-4246-BB57-C96F07699138}" type="datetime1">
              <a:rPr lang="en-US" smtClean="0"/>
              <a:t>6/29/2026</a:t>
            </a:fld>
            <a:endParaRPr lang="en-US"/>
          </a:p>
        </p:txBody>
      </p:sp>
      <p:sp>
        <p:nvSpPr>
          <p:cNvPr id="5" name="Footer Placeholder 4"/>
          <p:cNvSpPr>
            <a:spLocks noGrp="1"/>
          </p:cNvSpPr>
          <p:nvPr>
            <p:ph type="ftr" sz="quarter" idx="11"/>
          </p:nvPr>
        </p:nvSpPr>
        <p:spPr/>
        <p:txBody>
          <a:bodyPr/>
          <a:lstStyle/>
          <a:p>
            <a:r>
              <a:rPr lang="en-US"/>
              <a:t>© 2026 Vishal Lala</a:t>
            </a:r>
          </a:p>
        </p:txBody>
      </p:sp>
      <p:sp>
        <p:nvSpPr>
          <p:cNvPr id="6" name="Slide Number Placeholder 5"/>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234142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6199D2-CC98-4AF1-9F77-DC209E0218C1}" type="datetime1">
              <a:rPr lang="en-US" smtClean="0"/>
              <a:t>6/29/2026</a:t>
            </a:fld>
            <a:endParaRPr lang="en-US"/>
          </a:p>
        </p:txBody>
      </p:sp>
      <p:sp>
        <p:nvSpPr>
          <p:cNvPr id="5" name="Footer Placeholder 4"/>
          <p:cNvSpPr>
            <a:spLocks noGrp="1"/>
          </p:cNvSpPr>
          <p:nvPr>
            <p:ph type="ftr" sz="quarter" idx="11"/>
          </p:nvPr>
        </p:nvSpPr>
        <p:spPr/>
        <p:txBody>
          <a:bodyPr/>
          <a:lstStyle/>
          <a:p>
            <a:r>
              <a:rPr lang="en-US"/>
              <a:t>© 2026 Vishal Lala</a:t>
            </a:r>
          </a:p>
        </p:txBody>
      </p:sp>
      <p:sp>
        <p:nvSpPr>
          <p:cNvPr id="6" name="Slide Number Placeholder 5"/>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2411731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CC8EA941-65F1-4AE5-8D30-8E969811CBF4}" type="datetime1">
              <a:rPr lang="en-US" smtClean="0"/>
              <a:t>6/29/2026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r>
              <a:rPr lang="en-US"/>
              <a:t>© 2026 Vishal Lala</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B9FD85AE-1124-49A6-8860-0DC337D80F96}"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73867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Decimal_separator"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63CB0-3550-5242-C60E-6BC5BDD97359}"/>
              </a:ext>
            </a:extLst>
          </p:cNvPr>
          <p:cNvSpPr>
            <a:spLocks noGrp="1"/>
          </p:cNvSpPr>
          <p:nvPr>
            <p:ph type="ctrTitle"/>
          </p:nvPr>
        </p:nvSpPr>
        <p:spPr/>
        <p:txBody>
          <a:bodyPr/>
          <a:lstStyle/>
          <a:p>
            <a:r>
              <a:rPr lang="en-US" dirty="0"/>
              <a:t>Data Analytics</a:t>
            </a:r>
          </a:p>
        </p:txBody>
      </p:sp>
      <p:sp>
        <p:nvSpPr>
          <p:cNvPr id="6" name="Subtitle 5">
            <a:extLst>
              <a:ext uri="{FF2B5EF4-FFF2-40B4-BE49-F238E27FC236}">
                <a16:creationId xmlns:a16="http://schemas.microsoft.com/office/drawing/2014/main" id="{5363A4AA-FFF2-36FB-039D-7285BDDAABBF}"/>
              </a:ext>
            </a:extLst>
          </p:cNvPr>
          <p:cNvSpPr>
            <a:spLocks noGrp="1"/>
          </p:cNvSpPr>
          <p:nvPr>
            <p:ph type="subTitle" idx="1"/>
          </p:nvPr>
        </p:nvSpPr>
        <p:spPr/>
        <p:txBody>
          <a:bodyPr/>
          <a:lstStyle/>
          <a:p>
            <a:r>
              <a:rPr lang="en-US" dirty="0"/>
              <a:t>Session 3: Prepare Data</a:t>
            </a:r>
          </a:p>
        </p:txBody>
      </p:sp>
      <p:sp>
        <p:nvSpPr>
          <p:cNvPr id="4" name="Footer Placeholder 3">
            <a:extLst>
              <a:ext uri="{FF2B5EF4-FFF2-40B4-BE49-F238E27FC236}">
                <a16:creationId xmlns:a16="http://schemas.microsoft.com/office/drawing/2014/main" id="{85F1BD8A-BBDD-0F24-6D7F-CB21D0DD3EFA}"/>
              </a:ext>
            </a:extLst>
          </p:cNvPr>
          <p:cNvSpPr>
            <a:spLocks noGrp="1"/>
          </p:cNvSpPr>
          <p:nvPr>
            <p:ph type="ftr" sz="quarter" idx="11"/>
          </p:nvPr>
        </p:nvSpPr>
        <p:spPr/>
        <p:txBody>
          <a:bodyPr/>
          <a:lstStyle/>
          <a:p>
            <a:r>
              <a:rPr lang="en-US"/>
              <a:t>© 2026 Vishal Lala</a:t>
            </a:r>
          </a:p>
        </p:txBody>
      </p:sp>
      <p:sp>
        <p:nvSpPr>
          <p:cNvPr id="5" name="Slide Number Placeholder 4">
            <a:extLst>
              <a:ext uri="{FF2B5EF4-FFF2-40B4-BE49-F238E27FC236}">
                <a16:creationId xmlns:a16="http://schemas.microsoft.com/office/drawing/2014/main" id="{83AC8FB4-D9CE-59DE-8C13-ED78D095CE2F}"/>
              </a:ext>
            </a:extLst>
          </p:cNvPr>
          <p:cNvSpPr>
            <a:spLocks noGrp="1"/>
          </p:cNvSpPr>
          <p:nvPr>
            <p:ph type="sldNum" sz="quarter" idx="12"/>
          </p:nvPr>
        </p:nvSpPr>
        <p:spPr/>
        <p:txBody>
          <a:bodyPr/>
          <a:lstStyle/>
          <a:p>
            <a:fld id="{B9FD85AE-1124-49A6-8860-0DC337D80F96}" type="slidenum">
              <a:rPr lang="en-US" smtClean="0"/>
              <a:t>1</a:t>
            </a:fld>
            <a:endParaRPr lang="en-US"/>
          </a:p>
        </p:txBody>
      </p:sp>
    </p:spTree>
    <p:extLst>
      <p:ext uri="{BB962C8B-B14F-4D97-AF65-F5344CB8AC3E}">
        <p14:creationId xmlns:p14="http://schemas.microsoft.com/office/powerpoint/2010/main" val="2261999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BBD29-0724-1437-6499-94DD52AB611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7C1FBF5-61F6-4C4A-2A3A-29633B3CBADC}"/>
              </a:ext>
            </a:extLst>
          </p:cNvPr>
          <p:cNvSpPr>
            <a:spLocks noGrp="1"/>
          </p:cNvSpPr>
          <p:nvPr>
            <p:ph idx="1"/>
          </p:nvPr>
        </p:nvSpPr>
        <p:spPr/>
        <p:txBody>
          <a:bodyPr>
            <a:normAutofit/>
          </a:bodyPr>
          <a:lstStyle/>
          <a:p>
            <a:r>
              <a:rPr lang="en-US" sz="2400" dirty="0">
                <a:solidFill>
                  <a:schemeClr val="bg1">
                    <a:lumMod val="75000"/>
                  </a:schemeClr>
                </a:solidFill>
              </a:rPr>
              <a:t>Session 1: Setup </a:t>
            </a:r>
          </a:p>
          <a:p>
            <a:r>
              <a:rPr lang="en-US" sz="2400" dirty="0">
                <a:solidFill>
                  <a:schemeClr val="bg1">
                    <a:lumMod val="75000"/>
                  </a:schemeClr>
                </a:solidFill>
              </a:rPr>
              <a:t>Session 2: Explore Data</a:t>
            </a:r>
          </a:p>
          <a:p>
            <a:r>
              <a:rPr lang="en-US" sz="2400" dirty="0">
                <a:solidFill>
                  <a:schemeClr val="tx1"/>
                </a:solidFill>
              </a:rPr>
              <a:t>Session 3: Transform Data</a:t>
            </a:r>
          </a:p>
          <a:p>
            <a:r>
              <a:rPr lang="en-US" sz="2400" dirty="0">
                <a:solidFill>
                  <a:schemeClr val="bg1">
                    <a:lumMod val="75000"/>
                  </a:schemeClr>
                </a:solidFill>
              </a:rPr>
              <a:t>Session 4: Share Insights</a:t>
            </a:r>
          </a:p>
        </p:txBody>
      </p:sp>
      <p:sp>
        <p:nvSpPr>
          <p:cNvPr id="4" name="Footer Placeholder 3">
            <a:extLst>
              <a:ext uri="{FF2B5EF4-FFF2-40B4-BE49-F238E27FC236}">
                <a16:creationId xmlns:a16="http://schemas.microsoft.com/office/drawing/2014/main" id="{293172EE-DE79-D1D6-4694-8E1BC9BCD6FD}"/>
              </a:ext>
            </a:extLst>
          </p:cNvPr>
          <p:cNvSpPr>
            <a:spLocks noGrp="1"/>
          </p:cNvSpPr>
          <p:nvPr>
            <p:ph type="ftr" sz="quarter" idx="11"/>
          </p:nvPr>
        </p:nvSpPr>
        <p:spPr/>
        <p:txBody>
          <a:bodyPr/>
          <a:lstStyle/>
          <a:p>
            <a:r>
              <a:rPr lang="en-US" dirty="0"/>
              <a:t>© 2026 Vishal Lala</a:t>
            </a:r>
          </a:p>
        </p:txBody>
      </p:sp>
      <p:sp>
        <p:nvSpPr>
          <p:cNvPr id="5" name="Slide Number Placeholder 4">
            <a:extLst>
              <a:ext uri="{FF2B5EF4-FFF2-40B4-BE49-F238E27FC236}">
                <a16:creationId xmlns:a16="http://schemas.microsoft.com/office/drawing/2014/main" id="{569C3AA7-059C-1A04-CBC2-99B3111CCB96}"/>
              </a:ext>
            </a:extLst>
          </p:cNvPr>
          <p:cNvSpPr>
            <a:spLocks noGrp="1"/>
          </p:cNvSpPr>
          <p:nvPr>
            <p:ph type="sldNum" sz="quarter" idx="12"/>
          </p:nvPr>
        </p:nvSpPr>
        <p:spPr/>
        <p:txBody>
          <a:bodyPr/>
          <a:lstStyle/>
          <a:p>
            <a:fld id="{B9FD85AE-1124-49A6-8860-0DC337D80F96}" type="slidenum">
              <a:rPr lang="en-US" smtClean="0"/>
              <a:t>2</a:t>
            </a:fld>
            <a:endParaRPr lang="en-US"/>
          </a:p>
        </p:txBody>
      </p:sp>
    </p:spTree>
    <p:extLst>
      <p:ext uri="{BB962C8B-B14F-4D97-AF65-F5344CB8AC3E}">
        <p14:creationId xmlns:p14="http://schemas.microsoft.com/office/powerpoint/2010/main" val="3461290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8A9663-1F00-4D38-197F-7747AF33BAAE}"/>
              </a:ext>
            </a:extLst>
          </p:cNvPr>
          <p:cNvSpPr>
            <a:spLocks noGrp="1"/>
          </p:cNvSpPr>
          <p:nvPr>
            <p:ph type="title"/>
          </p:nvPr>
        </p:nvSpPr>
        <p:spPr/>
        <p:txBody>
          <a:bodyPr/>
          <a:lstStyle/>
          <a:p>
            <a:r>
              <a:rPr lang="en-US" dirty="0"/>
              <a:t>Explore Data</a:t>
            </a:r>
          </a:p>
        </p:txBody>
      </p:sp>
      <p:sp>
        <p:nvSpPr>
          <p:cNvPr id="7" name="Text Placeholder 6">
            <a:extLst>
              <a:ext uri="{FF2B5EF4-FFF2-40B4-BE49-F238E27FC236}">
                <a16:creationId xmlns:a16="http://schemas.microsoft.com/office/drawing/2014/main" id="{93DB2C29-C775-2834-9ADB-BF2D9D8520DB}"/>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FF7EE032-57C8-5E72-A760-298AB819F5D2}"/>
              </a:ext>
            </a:extLst>
          </p:cNvPr>
          <p:cNvSpPr>
            <a:spLocks noGrp="1"/>
          </p:cNvSpPr>
          <p:nvPr>
            <p:ph type="ftr" sz="quarter" idx="11"/>
          </p:nvPr>
        </p:nvSpPr>
        <p:spPr/>
        <p:txBody>
          <a:bodyPr/>
          <a:lstStyle/>
          <a:p>
            <a:r>
              <a:rPr lang="en-US"/>
              <a:t>© 2026 Vishal Lala</a:t>
            </a:r>
          </a:p>
        </p:txBody>
      </p:sp>
      <p:sp>
        <p:nvSpPr>
          <p:cNvPr id="5" name="Slide Number Placeholder 4">
            <a:extLst>
              <a:ext uri="{FF2B5EF4-FFF2-40B4-BE49-F238E27FC236}">
                <a16:creationId xmlns:a16="http://schemas.microsoft.com/office/drawing/2014/main" id="{A496F30E-6B13-9554-469C-A3079422533A}"/>
              </a:ext>
            </a:extLst>
          </p:cNvPr>
          <p:cNvSpPr>
            <a:spLocks noGrp="1"/>
          </p:cNvSpPr>
          <p:nvPr>
            <p:ph type="sldNum" sz="quarter" idx="12"/>
          </p:nvPr>
        </p:nvSpPr>
        <p:spPr/>
        <p:txBody>
          <a:bodyPr/>
          <a:lstStyle/>
          <a:p>
            <a:fld id="{B9FD85AE-1124-49A6-8860-0DC337D80F96}" type="slidenum">
              <a:rPr lang="en-US" smtClean="0"/>
              <a:t>3</a:t>
            </a:fld>
            <a:endParaRPr lang="en-US"/>
          </a:p>
        </p:txBody>
      </p:sp>
    </p:spTree>
    <p:extLst>
      <p:ext uri="{BB962C8B-B14F-4D97-AF65-F5344CB8AC3E}">
        <p14:creationId xmlns:p14="http://schemas.microsoft.com/office/powerpoint/2010/main" val="3960941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r>
              <a:rPr lang="en-US" dirty="0"/>
              <a:t>Inspect</a:t>
            </a:r>
          </a:p>
          <a:p>
            <a:r>
              <a:rPr lang="en-US" dirty="0"/>
              <a:t>Subset</a:t>
            </a:r>
          </a:p>
          <a:p>
            <a:r>
              <a:rPr lang="en-US" dirty="0"/>
              <a:t>Edit</a:t>
            </a:r>
          </a:p>
          <a:p>
            <a:r>
              <a:rPr lang="en-US" dirty="0"/>
              <a:t>Summarize</a:t>
            </a:r>
          </a:p>
          <a:p>
            <a:r>
              <a:rPr lang="en-US" dirty="0"/>
              <a:t>Visualize</a:t>
            </a:r>
          </a:p>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4</a:t>
            </a:fld>
            <a:endParaRPr lang="en-US" dirty="0"/>
          </a:p>
        </p:txBody>
      </p:sp>
      <p:sp>
        <p:nvSpPr>
          <p:cNvPr id="4" name="Footer Placeholder 3">
            <a:extLst>
              <a:ext uri="{FF2B5EF4-FFF2-40B4-BE49-F238E27FC236}">
                <a16:creationId xmlns:a16="http://schemas.microsoft.com/office/drawing/2014/main" id="{BB1B9E2E-66C9-CC83-B3D2-35D9D7775793}"/>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301324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9FC1A-8A61-8A16-9538-C1C7ADD0EB57}"/>
              </a:ext>
            </a:extLst>
          </p:cNvPr>
          <p:cNvSpPr>
            <a:spLocks noGrp="1"/>
          </p:cNvSpPr>
          <p:nvPr>
            <p:ph type="title"/>
          </p:nvPr>
        </p:nvSpPr>
        <p:spPr/>
        <p:txBody>
          <a:bodyPr/>
          <a:lstStyle/>
          <a:p>
            <a:r>
              <a:rPr lang="en-US" dirty="0"/>
              <a:t>Data Exploration</a:t>
            </a:r>
          </a:p>
        </p:txBody>
      </p:sp>
      <p:sp>
        <p:nvSpPr>
          <p:cNvPr id="3" name="Content Placeholder 2">
            <a:extLst>
              <a:ext uri="{FF2B5EF4-FFF2-40B4-BE49-F238E27FC236}">
                <a16:creationId xmlns:a16="http://schemas.microsoft.com/office/drawing/2014/main" id="{AD601B25-1B70-4C60-A964-46842FE35D5A}"/>
              </a:ext>
            </a:extLst>
          </p:cNvPr>
          <p:cNvSpPr>
            <a:spLocks noGrp="1"/>
          </p:cNvSpPr>
          <p:nvPr>
            <p:ph idx="1"/>
          </p:nvPr>
        </p:nvSpPr>
        <p:spPr/>
        <p:txBody>
          <a:bodyPr/>
          <a:lstStyle/>
          <a:p>
            <a:r>
              <a:rPr lang="en-US" dirty="0"/>
              <a:t>Data exploration is a crucial first step in any machine learning workflow. </a:t>
            </a:r>
          </a:p>
          <a:p>
            <a:r>
              <a:rPr lang="en-US" dirty="0"/>
              <a:t>Helps data scientists understand the </a:t>
            </a:r>
          </a:p>
          <a:p>
            <a:pPr lvl="1"/>
            <a:r>
              <a:rPr lang="en-US" dirty="0"/>
              <a:t>structure, </a:t>
            </a:r>
          </a:p>
          <a:p>
            <a:pPr lvl="1"/>
            <a:r>
              <a:rPr lang="en-US" dirty="0"/>
              <a:t>quality, and </a:t>
            </a:r>
          </a:p>
          <a:p>
            <a:pPr lvl="1"/>
            <a:r>
              <a:rPr lang="en-US" dirty="0"/>
              <a:t>patterns in the data</a:t>
            </a:r>
            <a:r>
              <a:rPr lang="en-US"/>
              <a:t>. </a:t>
            </a:r>
            <a:endParaRPr lang="en-US" dirty="0"/>
          </a:p>
        </p:txBody>
      </p:sp>
      <p:sp>
        <p:nvSpPr>
          <p:cNvPr id="4" name="Slide Number Placeholder 3">
            <a:extLst>
              <a:ext uri="{FF2B5EF4-FFF2-40B4-BE49-F238E27FC236}">
                <a16:creationId xmlns:a16="http://schemas.microsoft.com/office/drawing/2014/main" id="{0513EADE-F2B5-EDA1-2B97-923EEC083E33}"/>
              </a:ext>
            </a:extLst>
          </p:cNvPr>
          <p:cNvSpPr>
            <a:spLocks noGrp="1"/>
          </p:cNvSpPr>
          <p:nvPr>
            <p:ph type="sldNum" sz="quarter" idx="12"/>
          </p:nvPr>
        </p:nvSpPr>
        <p:spPr/>
        <p:txBody>
          <a:bodyPr/>
          <a:lstStyle/>
          <a:p>
            <a:fld id="{69E57DC2-970A-4B3E-BB1C-7A09969E49DF}" type="slidenum">
              <a:rPr lang="en-US" smtClean="0"/>
              <a:t>5</a:t>
            </a:fld>
            <a:endParaRPr lang="en-US" dirty="0"/>
          </a:p>
        </p:txBody>
      </p:sp>
      <p:sp>
        <p:nvSpPr>
          <p:cNvPr id="5" name="Footer Placeholder 4">
            <a:extLst>
              <a:ext uri="{FF2B5EF4-FFF2-40B4-BE49-F238E27FC236}">
                <a16:creationId xmlns:a16="http://schemas.microsoft.com/office/drawing/2014/main" id="{FC09F588-11CC-A569-78C0-73B2145F8534}"/>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646970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49651-0E9C-7810-E62E-B2D41C43D367}"/>
              </a:ext>
            </a:extLst>
          </p:cNvPr>
          <p:cNvSpPr>
            <a:spLocks noGrp="1"/>
          </p:cNvSpPr>
          <p:nvPr>
            <p:ph type="title"/>
          </p:nvPr>
        </p:nvSpPr>
        <p:spPr/>
        <p:txBody>
          <a:bodyPr/>
          <a:lstStyle/>
          <a:p>
            <a:r>
              <a:rPr lang="en-US" dirty="0"/>
              <a:t>Inspect Data</a:t>
            </a:r>
          </a:p>
        </p:txBody>
      </p:sp>
      <p:sp>
        <p:nvSpPr>
          <p:cNvPr id="3" name="Content Placeholder 2">
            <a:extLst>
              <a:ext uri="{FF2B5EF4-FFF2-40B4-BE49-F238E27FC236}">
                <a16:creationId xmlns:a16="http://schemas.microsoft.com/office/drawing/2014/main" id="{DBA9C44D-1627-ED35-7F77-8ACC2468A0C5}"/>
              </a:ext>
            </a:extLst>
          </p:cNvPr>
          <p:cNvSpPr>
            <a:spLocks noGrp="1"/>
          </p:cNvSpPr>
          <p:nvPr>
            <p:ph idx="1"/>
          </p:nvPr>
        </p:nvSpPr>
        <p:spPr/>
        <p:txBody>
          <a:bodyPr>
            <a:normAutofit lnSpcReduction="10000"/>
          </a:bodyPr>
          <a:lstStyle/>
          <a:p>
            <a:r>
              <a:rPr lang="en-US" dirty="0"/>
              <a:t>Examine data format</a:t>
            </a:r>
          </a:p>
          <a:p>
            <a:pPr lvl="1"/>
            <a:r>
              <a:rPr lang="en-US" dirty="0"/>
              <a:t>Plain text (e.g., csv, .txt), spreadsheet (e.g.,.xlsx), columnar/binary (e.g., parquet, feather, pickle), or statistical format (e.g., SPSS, SAS)</a:t>
            </a:r>
          </a:p>
          <a:p>
            <a:r>
              <a:rPr lang="en-US" dirty="0"/>
              <a:t>Examine data to gain insight on </a:t>
            </a:r>
          </a:p>
          <a:p>
            <a:pPr lvl="1"/>
            <a:r>
              <a:rPr lang="en-US" dirty="0"/>
              <a:t>size</a:t>
            </a:r>
          </a:p>
          <a:p>
            <a:pPr lvl="1"/>
            <a:r>
              <a:rPr lang="en-US" dirty="0"/>
              <a:t>structure </a:t>
            </a:r>
          </a:p>
          <a:p>
            <a:pPr lvl="1"/>
            <a:r>
              <a:rPr lang="en-US" dirty="0"/>
              <a:t>data types </a:t>
            </a:r>
          </a:p>
          <a:p>
            <a:pPr lvl="1"/>
            <a:r>
              <a:rPr lang="en-US" dirty="0"/>
              <a:t>completeness </a:t>
            </a:r>
          </a:p>
          <a:p>
            <a:pPr lvl="1"/>
            <a:r>
              <a:rPr lang="en-US" dirty="0"/>
              <a:t>consistency </a:t>
            </a:r>
          </a:p>
          <a:p>
            <a:pPr lvl="1"/>
            <a:r>
              <a:rPr lang="en-US" dirty="0"/>
              <a:t>encoding</a:t>
            </a:r>
          </a:p>
        </p:txBody>
      </p:sp>
      <p:sp>
        <p:nvSpPr>
          <p:cNvPr id="4" name="Slide Number Placeholder 3">
            <a:extLst>
              <a:ext uri="{FF2B5EF4-FFF2-40B4-BE49-F238E27FC236}">
                <a16:creationId xmlns:a16="http://schemas.microsoft.com/office/drawing/2014/main" id="{F49F9476-6882-8396-9FC9-4B76CC8828F6}"/>
              </a:ext>
            </a:extLst>
          </p:cNvPr>
          <p:cNvSpPr>
            <a:spLocks noGrp="1"/>
          </p:cNvSpPr>
          <p:nvPr>
            <p:ph type="sldNum" sz="quarter" idx="12"/>
          </p:nvPr>
        </p:nvSpPr>
        <p:spPr/>
        <p:txBody>
          <a:bodyPr/>
          <a:lstStyle/>
          <a:p>
            <a:fld id="{69E57DC2-970A-4B3E-BB1C-7A09969E49DF}" type="slidenum">
              <a:rPr lang="en-US" smtClean="0"/>
              <a:t>6</a:t>
            </a:fld>
            <a:endParaRPr lang="en-US" dirty="0"/>
          </a:p>
        </p:txBody>
      </p:sp>
      <p:sp>
        <p:nvSpPr>
          <p:cNvPr id="5" name="Footer Placeholder 4">
            <a:extLst>
              <a:ext uri="{FF2B5EF4-FFF2-40B4-BE49-F238E27FC236}">
                <a16:creationId xmlns:a16="http://schemas.microsoft.com/office/drawing/2014/main" id="{786DC921-677F-31B4-9E42-BCADF9EE02A1}"/>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130360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2CDFF-B32A-73CC-24CE-B2CE10B02A67}"/>
              </a:ext>
            </a:extLst>
          </p:cNvPr>
          <p:cNvSpPr>
            <a:spLocks noGrp="1"/>
          </p:cNvSpPr>
          <p:nvPr>
            <p:ph type="title"/>
          </p:nvPr>
        </p:nvSpPr>
        <p:spPr/>
        <p:txBody>
          <a:bodyPr/>
          <a:lstStyle/>
          <a:p>
            <a:r>
              <a:rPr lang="en-US" dirty="0"/>
              <a:t>Subset</a:t>
            </a:r>
          </a:p>
        </p:txBody>
      </p:sp>
      <p:sp>
        <p:nvSpPr>
          <p:cNvPr id="3" name="Content Placeholder 2">
            <a:extLst>
              <a:ext uri="{FF2B5EF4-FFF2-40B4-BE49-F238E27FC236}">
                <a16:creationId xmlns:a16="http://schemas.microsoft.com/office/drawing/2014/main" id="{B4FEA4FE-E173-408D-D522-8EC27F60BB86}"/>
              </a:ext>
            </a:extLst>
          </p:cNvPr>
          <p:cNvSpPr>
            <a:spLocks noGrp="1"/>
          </p:cNvSpPr>
          <p:nvPr>
            <p:ph idx="1"/>
          </p:nvPr>
        </p:nvSpPr>
        <p:spPr/>
        <p:txBody>
          <a:bodyPr>
            <a:normAutofit/>
          </a:bodyPr>
          <a:lstStyle/>
          <a:p>
            <a:pPr marL="0" indent="0">
              <a:buNone/>
            </a:pPr>
            <a:r>
              <a:rPr lang="en-US" dirty="0"/>
              <a:t>Machine learning problems often involve</a:t>
            </a:r>
          </a:p>
          <a:p>
            <a:r>
              <a:rPr lang="en-US" dirty="0"/>
              <a:t>selecting relevant features</a:t>
            </a:r>
          </a:p>
          <a:p>
            <a:r>
              <a:rPr lang="en-US" dirty="0"/>
              <a:t>using observations that meet analysis requirements</a:t>
            </a:r>
          </a:p>
          <a:p>
            <a:pPr lvl="1"/>
            <a:r>
              <a:rPr lang="en-US" dirty="0"/>
              <a:t>For e.g.: individuals who have visited the website in the last one month, a random sample of 70% of data</a:t>
            </a:r>
          </a:p>
        </p:txBody>
      </p:sp>
      <p:sp>
        <p:nvSpPr>
          <p:cNvPr id="4" name="Slide Number Placeholder 3">
            <a:extLst>
              <a:ext uri="{FF2B5EF4-FFF2-40B4-BE49-F238E27FC236}">
                <a16:creationId xmlns:a16="http://schemas.microsoft.com/office/drawing/2014/main" id="{2AFC1341-A5C6-1B25-D45F-CADC76CAC9EA}"/>
              </a:ext>
            </a:extLst>
          </p:cNvPr>
          <p:cNvSpPr>
            <a:spLocks noGrp="1"/>
          </p:cNvSpPr>
          <p:nvPr>
            <p:ph type="sldNum" sz="quarter" idx="12"/>
          </p:nvPr>
        </p:nvSpPr>
        <p:spPr/>
        <p:txBody>
          <a:bodyPr/>
          <a:lstStyle/>
          <a:p>
            <a:fld id="{69E57DC2-970A-4B3E-BB1C-7A09969E49DF}" type="slidenum">
              <a:rPr lang="en-US" smtClean="0"/>
              <a:t>7</a:t>
            </a:fld>
            <a:endParaRPr lang="en-US" dirty="0"/>
          </a:p>
        </p:txBody>
      </p:sp>
      <p:sp>
        <p:nvSpPr>
          <p:cNvPr id="5" name="Footer Placeholder 4">
            <a:extLst>
              <a:ext uri="{FF2B5EF4-FFF2-40B4-BE49-F238E27FC236}">
                <a16:creationId xmlns:a16="http://schemas.microsoft.com/office/drawing/2014/main" id="{3AA1392A-0F0E-1484-096D-6256176FAB56}"/>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681586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1FA62-A78D-66B2-5DB3-683390C036C4}"/>
              </a:ext>
            </a:extLst>
          </p:cNvPr>
          <p:cNvSpPr>
            <a:spLocks noGrp="1"/>
          </p:cNvSpPr>
          <p:nvPr>
            <p:ph type="title"/>
          </p:nvPr>
        </p:nvSpPr>
        <p:spPr/>
        <p:txBody>
          <a:bodyPr/>
          <a:lstStyle/>
          <a:p>
            <a:r>
              <a:rPr lang="en-US" dirty="0"/>
              <a:t>Edit Data</a:t>
            </a:r>
          </a:p>
        </p:txBody>
      </p:sp>
      <p:sp>
        <p:nvSpPr>
          <p:cNvPr id="3" name="Content Placeholder 2">
            <a:extLst>
              <a:ext uri="{FF2B5EF4-FFF2-40B4-BE49-F238E27FC236}">
                <a16:creationId xmlns:a16="http://schemas.microsoft.com/office/drawing/2014/main" id="{BD2D6559-F08F-297E-0909-EF36916080BD}"/>
              </a:ext>
            </a:extLst>
          </p:cNvPr>
          <p:cNvSpPr>
            <a:spLocks noGrp="1"/>
          </p:cNvSpPr>
          <p:nvPr>
            <p:ph idx="1"/>
          </p:nvPr>
        </p:nvSpPr>
        <p:spPr/>
        <p:txBody>
          <a:bodyPr>
            <a:normAutofit fontScale="92500" lnSpcReduction="20000"/>
          </a:bodyPr>
          <a:lstStyle/>
          <a:p>
            <a:r>
              <a:rPr lang="en-US" dirty="0"/>
              <a:t>This is essential for making datasets cleaner, more interpretable, and analysis-ready.</a:t>
            </a:r>
          </a:p>
          <a:p>
            <a:r>
              <a:rPr lang="en-US" dirty="0"/>
              <a:t>Change variable names to align with analysis needs. </a:t>
            </a:r>
          </a:p>
          <a:p>
            <a:pPr lvl="1"/>
            <a:r>
              <a:rPr lang="en-US" dirty="0"/>
              <a:t>For instance, names that are too long, uninformative or do not comply with naming rules</a:t>
            </a:r>
          </a:p>
          <a:p>
            <a:r>
              <a:rPr lang="en-US" dirty="0"/>
              <a:t>Derive new variables from existing variables</a:t>
            </a:r>
          </a:p>
          <a:p>
            <a:r>
              <a:rPr lang="en-US" dirty="0"/>
              <a:t>Identify missing values and replace them with an identifier or a value</a:t>
            </a:r>
          </a:p>
          <a:p>
            <a:r>
              <a:rPr lang="en-US" dirty="0"/>
              <a:t>Change data types</a:t>
            </a:r>
          </a:p>
          <a:p>
            <a:pPr lvl="1"/>
            <a:r>
              <a:rPr lang="en-US" dirty="0"/>
              <a:t>If data was parsed incorrectly; accommodate greater precision; reduce memory requirement</a:t>
            </a:r>
          </a:p>
          <a:p>
            <a:r>
              <a:rPr lang="en-US" dirty="0"/>
              <a:t>Sort</a:t>
            </a:r>
          </a:p>
          <a:p>
            <a:r>
              <a:rPr lang="en-US" dirty="0"/>
              <a:t>Delete rows or columns</a:t>
            </a:r>
          </a:p>
        </p:txBody>
      </p:sp>
      <p:sp>
        <p:nvSpPr>
          <p:cNvPr id="4" name="Slide Number Placeholder 3">
            <a:extLst>
              <a:ext uri="{FF2B5EF4-FFF2-40B4-BE49-F238E27FC236}">
                <a16:creationId xmlns:a16="http://schemas.microsoft.com/office/drawing/2014/main" id="{9E7E6119-CEA5-0DB7-A2D5-070F387BF0D0}"/>
              </a:ext>
            </a:extLst>
          </p:cNvPr>
          <p:cNvSpPr>
            <a:spLocks noGrp="1"/>
          </p:cNvSpPr>
          <p:nvPr>
            <p:ph type="sldNum" sz="quarter" idx="12"/>
          </p:nvPr>
        </p:nvSpPr>
        <p:spPr/>
        <p:txBody>
          <a:bodyPr/>
          <a:lstStyle/>
          <a:p>
            <a:fld id="{69E57DC2-970A-4B3E-BB1C-7A09969E49DF}" type="slidenum">
              <a:rPr lang="en-US" smtClean="0"/>
              <a:t>8</a:t>
            </a:fld>
            <a:endParaRPr lang="en-US" dirty="0"/>
          </a:p>
        </p:txBody>
      </p:sp>
      <p:sp>
        <p:nvSpPr>
          <p:cNvPr id="5" name="Footer Placeholder 4">
            <a:extLst>
              <a:ext uri="{FF2B5EF4-FFF2-40B4-BE49-F238E27FC236}">
                <a16:creationId xmlns:a16="http://schemas.microsoft.com/office/drawing/2014/main" id="{43FC7A94-88CA-E216-64AB-2E6BB89F3D9F}"/>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135068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E3E82-EB8B-C2F6-38CF-5F1163AF4A0B}"/>
              </a:ext>
            </a:extLst>
          </p:cNvPr>
          <p:cNvSpPr>
            <a:spLocks noGrp="1"/>
          </p:cNvSpPr>
          <p:nvPr>
            <p:ph type="title"/>
          </p:nvPr>
        </p:nvSpPr>
        <p:spPr/>
        <p:txBody>
          <a:bodyPr/>
          <a:lstStyle/>
          <a:p>
            <a:r>
              <a:rPr lang="en-US" dirty="0"/>
              <a:t>Summarize</a:t>
            </a:r>
          </a:p>
        </p:txBody>
      </p:sp>
      <p:sp>
        <p:nvSpPr>
          <p:cNvPr id="3" name="Content Placeholder 2">
            <a:extLst>
              <a:ext uri="{FF2B5EF4-FFF2-40B4-BE49-F238E27FC236}">
                <a16:creationId xmlns:a16="http://schemas.microsoft.com/office/drawing/2014/main" id="{D44454A4-09EB-9D7A-FCD6-CB9809152EF9}"/>
              </a:ext>
            </a:extLst>
          </p:cNvPr>
          <p:cNvSpPr>
            <a:spLocks noGrp="1"/>
          </p:cNvSpPr>
          <p:nvPr>
            <p:ph idx="1"/>
          </p:nvPr>
        </p:nvSpPr>
        <p:spPr/>
        <p:txBody>
          <a:bodyPr>
            <a:normAutofit/>
          </a:bodyPr>
          <a:lstStyle/>
          <a:p>
            <a:r>
              <a:rPr lang="en-US" dirty="0"/>
              <a:t>Eyeballing even a moderate sized dataset is unlikely to yield useful insights</a:t>
            </a:r>
          </a:p>
          <a:p>
            <a:r>
              <a:rPr lang="en-US" dirty="0"/>
              <a:t>Numerical summaries can yield insights independent of the actual size of the data</a:t>
            </a:r>
          </a:p>
          <a:p>
            <a:r>
              <a:rPr lang="en-US" dirty="0"/>
              <a:t>For numeric variables</a:t>
            </a:r>
          </a:p>
          <a:p>
            <a:pPr lvl="1"/>
            <a:r>
              <a:rPr lang="en-US" dirty="0"/>
              <a:t>Measures of central tendency: Mean, Median, Mode</a:t>
            </a:r>
          </a:p>
          <a:p>
            <a:pPr lvl="1"/>
            <a:r>
              <a:rPr lang="en-US" dirty="0"/>
              <a:t>Measures of dispersion: Standard Deviation, Variance, Range</a:t>
            </a:r>
          </a:p>
          <a:p>
            <a:pPr lvl="1"/>
            <a:r>
              <a:rPr lang="en-US" dirty="0"/>
              <a:t>Shape of the distribution: Skewness, Kurtosis</a:t>
            </a:r>
          </a:p>
          <a:p>
            <a:r>
              <a:rPr lang="en-US" dirty="0"/>
              <a:t>For categorical variables</a:t>
            </a:r>
          </a:p>
          <a:p>
            <a:pPr lvl="1"/>
            <a:r>
              <a:rPr lang="en-US" dirty="0"/>
              <a:t>Frequency or Proportion</a:t>
            </a:r>
          </a:p>
          <a:p>
            <a:pPr lvl="1"/>
            <a:r>
              <a:rPr lang="en-US" dirty="0"/>
              <a:t>Cross-tabulations</a:t>
            </a:r>
          </a:p>
        </p:txBody>
      </p:sp>
      <p:sp>
        <p:nvSpPr>
          <p:cNvPr id="4" name="Slide Number Placeholder 3">
            <a:extLst>
              <a:ext uri="{FF2B5EF4-FFF2-40B4-BE49-F238E27FC236}">
                <a16:creationId xmlns:a16="http://schemas.microsoft.com/office/drawing/2014/main" id="{64A02AF8-EA38-B47D-1115-ABFDD7473214}"/>
              </a:ext>
            </a:extLst>
          </p:cNvPr>
          <p:cNvSpPr>
            <a:spLocks noGrp="1"/>
          </p:cNvSpPr>
          <p:nvPr>
            <p:ph type="sldNum" sz="quarter" idx="12"/>
          </p:nvPr>
        </p:nvSpPr>
        <p:spPr/>
        <p:txBody>
          <a:bodyPr/>
          <a:lstStyle/>
          <a:p>
            <a:fld id="{69E57DC2-970A-4B3E-BB1C-7A09969E49DF}" type="slidenum">
              <a:rPr lang="en-US" smtClean="0"/>
              <a:t>9</a:t>
            </a:fld>
            <a:endParaRPr lang="en-US" dirty="0"/>
          </a:p>
        </p:txBody>
      </p:sp>
      <p:sp>
        <p:nvSpPr>
          <p:cNvPr id="5" name="Footer Placeholder 4">
            <a:extLst>
              <a:ext uri="{FF2B5EF4-FFF2-40B4-BE49-F238E27FC236}">
                <a16:creationId xmlns:a16="http://schemas.microsoft.com/office/drawing/2014/main" id="{1826EE16-3FC2-3A55-F973-21D0B521A82C}"/>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878453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7BFF2-DF07-4EE7-3C3A-BB597FF54151}"/>
              </a:ext>
            </a:extLst>
          </p:cNvPr>
          <p:cNvSpPr>
            <a:spLocks noGrp="1"/>
          </p:cNvSpPr>
          <p:nvPr>
            <p:ph type="title"/>
          </p:nvPr>
        </p:nvSpPr>
        <p:spPr/>
        <p:txBody>
          <a:bodyPr/>
          <a:lstStyle/>
          <a:p>
            <a:r>
              <a:rPr lang="en-US" dirty="0"/>
              <a:t>Visualize</a:t>
            </a:r>
          </a:p>
        </p:txBody>
      </p:sp>
      <p:sp>
        <p:nvSpPr>
          <p:cNvPr id="3" name="Content Placeholder 2">
            <a:extLst>
              <a:ext uri="{FF2B5EF4-FFF2-40B4-BE49-F238E27FC236}">
                <a16:creationId xmlns:a16="http://schemas.microsoft.com/office/drawing/2014/main" id="{217FA9FF-CA7D-1965-FB2E-ED147727BA53}"/>
              </a:ext>
            </a:extLst>
          </p:cNvPr>
          <p:cNvSpPr>
            <a:spLocks noGrp="1"/>
          </p:cNvSpPr>
          <p:nvPr>
            <p:ph idx="1"/>
          </p:nvPr>
        </p:nvSpPr>
        <p:spPr/>
        <p:txBody>
          <a:bodyPr>
            <a:normAutofit/>
          </a:bodyPr>
          <a:lstStyle/>
          <a:p>
            <a:r>
              <a:rPr lang="en-US" dirty="0"/>
              <a:t>Early in the analysis pipeline, visualizing data can aid in </a:t>
            </a:r>
          </a:p>
          <a:p>
            <a:pPr lvl="1"/>
            <a:r>
              <a:rPr lang="en-US" dirty="0"/>
              <a:t>forming an understanding of the data, </a:t>
            </a:r>
          </a:p>
          <a:p>
            <a:pPr lvl="1"/>
            <a:r>
              <a:rPr lang="en-US" dirty="0"/>
              <a:t>identifying trends, and </a:t>
            </a:r>
          </a:p>
          <a:p>
            <a:pPr lvl="1"/>
            <a:r>
              <a:rPr lang="en-US" dirty="0"/>
              <a:t>spotting anomalies</a:t>
            </a:r>
          </a:p>
          <a:p>
            <a:r>
              <a:rPr lang="en-US" dirty="0"/>
              <a:t>Common chart types</a:t>
            </a:r>
          </a:p>
          <a:p>
            <a:pPr lvl="1"/>
            <a:r>
              <a:rPr lang="en-US" dirty="0"/>
              <a:t>Histogram: Distribution of variable</a:t>
            </a:r>
          </a:p>
          <a:p>
            <a:pPr lvl="1"/>
            <a:r>
              <a:rPr lang="en-US" dirty="0"/>
              <a:t>Scatterplot: Relationship between a pair of variables</a:t>
            </a:r>
          </a:p>
          <a:p>
            <a:pPr lvl="1"/>
            <a:r>
              <a:rPr lang="en-US" dirty="0"/>
              <a:t>Line plot: Trend over time</a:t>
            </a:r>
          </a:p>
          <a:p>
            <a:pPr lvl="1"/>
            <a:r>
              <a:rPr lang="en-US" dirty="0"/>
              <a:t>Bar chart: Compare a numeric variable across levels of a categorical variable</a:t>
            </a:r>
          </a:p>
          <a:p>
            <a:endParaRPr lang="en-US" dirty="0"/>
          </a:p>
        </p:txBody>
      </p:sp>
      <p:sp>
        <p:nvSpPr>
          <p:cNvPr id="4" name="Slide Number Placeholder 3">
            <a:extLst>
              <a:ext uri="{FF2B5EF4-FFF2-40B4-BE49-F238E27FC236}">
                <a16:creationId xmlns:a16="http://schemas.microsoft.com/office/drawing/2014/main" id="{9E506795-2914-1626-60C7-9A4A6CB1AE3C}"/>
              </a:ext>
            </a:extLst>
          </p:cNvPr>
          <p:cNvSpPr>
            <a:spLocks noGrp="1"/>
          </p:cNvSpPr>
          <p:nvPr>
            <p:ph type="sldNum" sz="quarter" idx="12"/>
          </p:nvPr>
        </p:nvSpPr>
        <p:spPr/>
        <p:txBody>
          <a:bodyPr/>
          <a:lstStyle/>
          <a:p>
            <a:fld id="{69E57DC2-970A-4B3E-BB1C-7A09969E49DF}" type="slidenum">
              <a:rPr lang="en-US" smtClean="0"/>
              <a:t>10</a:t>
            </a:fld>
            <a:endParaRPr lang="en-US" dirty="0"/>
          </a:p>
        </p:txBody>
      </p:sp>
      <p:sp>
        <p:nvSpPr>
          <p:cNvPr id="5" name="Footer Placeholder 4">
            <a:extLst>
              <a:ext uri="{FF2B5EF4-FFF2-40B4-BE49-F238E27FC236}">
                <a16:creationId xmlns:a16="http://schemas.microsoft.com/office/drawing/2014/main" id="{B81FF532-E1EE-51E5-092C-F952221E0DAD}"/>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044543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CA4E878-7F88-4DC3-D8DF-71E3E3F02530}"/>
              </a:ext>
            </a:extLst>
          </p:cNvPr>
          <p:cNvSpPr>
            <a:spLocks noGrp="1"/>
          </p:cNvSpPr>
          <p:nvPr>
            <p:ph type="title"/>
          </p:nvPr>
        </p:nvSpPr>
        <p:spPr/>
        <p:txBody>
          <a:bodyPr/>
          <a:lstStyle/>
          <a:p>
            <a:r>
              <a:rPr lang="en-US" dirty="0"/>
              <a:t>Tidy Data</a:t>
            </a:r>
          </a:p>
        </p:txBody>
      </p:sp>
      <p:sp>
        <p:nvSpPr>
          <p:cNvPr id="7" name="Text Placeholder 6">
            <a:extLst>
              <a:ext uri="{FF2B5EF4-FFF2-40B4-BE49-F238E27FC236}">
                <a16:creationId xmlns:a16="http://schemas.microsoft.com/office/drawing/2014/main" id="{69EC7495-B420-9484-CD21-37AD418F4E3C}"/>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641D5ACE-C3AE-3F3C-7B8B-18A53176F879}"/>
              </a:ext>
            </a:extLst>
          </p:cNvPr>
          <p:cNvSpPr>
            <a:spLocks noGrp="1"/>
          </p:cNvSpPr>
          <p:nvPr>
            <p:ph type="ftr" sz="quarter" idx="11"/>
          </p:nvPr>
        </p:nvSpPr>
        <p:spPr/>
        <p:txBody>
          <a:bodyPr/>
          <a:lstStyle/>
          <a:p>
            <a:r>
              <a:rPr lang="en-US"/>
              <a:t>© 2026 Vishal Lala</a:t>
            </a:r>
          </a:p>
        </p:txBody>
      </p:sp>
      <p:sp>
        <p:nvSpPr>
          <p:cNvPr id="5" name="Slide Number Placeholder 4">
            <a:extLst>
              <a:ext uri="{FF2B5EF4-FFF2-40B4-BE49-F238E27FC236}">
                <a16:creationId xmlns:a16="http://schemas.microsoft.com/office/drawing/2014/main" id="{59EF979F-8F17-C24B-6441-7866FFD31A1F}"/>
              </a:ext>
            </a:extLst>
          </p:cNvPr>
          <p:cNvSpPr>
            <a:spLocks noGrp="1"/>
          </p:cNvSpPr>
          <p:nvPr>
            <p:ph type="sldNum" sz="quarter" idx="12"/>
          </p:nvPr>
        </p:nvSpPr>
        <p:spPr/>
        <p:txBody>
          <a:bodyPr/>
          <a:lstStyle/>
          <a:p>
            <a:fld id="{B9FD85AE-1124-49A6-8860-0DC337D80F96}" type="slidenum">
              <a:rPr lang="en-US" smtClean="0"/>
              <a:t>11</a:t>
            </a:fld>
            <a:endParaRPr lang="en-US"/>
          </a:p>
        </p:txBody>
      </p:sp>
    </p:spTree>
    <p:extLst>
      <p:ext uri="{BB962C8B-B14F-4D97-AF65-F5344CB8AC3E}">
        <p14:creationId xmlns:p14="http://schemas.microsoft.com/office/powerpoint/2010/main" val="1165757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Preparation</a:t>
            </a:r>
          </a:p>
        </p:txBody>
      </p:sp>
      <p:sp>
        <p:nvSpPr>
          <p:cNvPr id="3" name="Content Placeholder 2"/>
          <p:cNvSpPr>
            <a:spLocks noGrp="1"/>
          </p:cNvSpPr>
          <p:nvPr>
            <p:ph idx="1"/>
          </p:nvPr>
        </p:nvSpPr>
        <p:spPr/>
        <p:txBody>
          <a:bodyPr/>
          <a:lstStyle/>
          <a:p>
            <a:r>
              <a:rPr lang="en-US" dirty="0"/>
              <a:t>Data seldom comes in a form that is ready for analysis. This may be because</a:t>
            </a:r>
          </a:p>
          <a:p>
            <a:pPr lvl="1"/>
            <a:r>
              <a:rPr lang="en-US" dirty="0"/>
              <a:t>Variables are not in the correct format</a:t>
            </a:r>
          </a:p>
          <a:p>
            <a:pPr lvl="1"/>
            <a:r>
              <a:rPr lang="en-US" dirty="0"/>
              <a:t>Variables are too raw for analysis</a:t>
            </a:r>
          </a:p>
          <a:p>
            <a:pPr lvl="1"/>
            <a:r>
              <a:rPr lang="en-US" dirty="0"/>
              <a:t>Structure of data is not amenable for analysis</a:t>
            </a:r>
          </a:p>
          <a:p>
            <a:pPr lvl="1"/>
            <a:r>
              <a:rPr lang="en-US" dirty="0"/>
              <a:t>Data is spread across multiple tables</a:t>
            </a:r>
          </a:p>
          <a:p>
            <a:pPr lvl="1"/>
            <a:r>
              <a:rPr lang="en-US" dirty="0"/>
              <a:t>Some of the data is missing </a:t>
            </a:r>
          </a:p>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12</a:t>
            </a:fld>
            <a:endParaRPr lang="en-US" dirty="0"/>
          </a:p>
        </p:txBody>
      </p:sp>
      <p:sp>
        <p:nvSpPr>
          <p:cNvPr id="5" name="Footer Placeholder 4">
            <a:extLst>
              <a:ext uri="{FF2B5EF4-FFF2-40B4-BE49-F238E27FC236}">
                <a16:creationId xmlns:a16="http://schemas.microsoft.com/office/drawing/2014/main" id="{F8EF4C01-26FB-3063-6AA8-5A964E1EC825}"/>
              </a:ext>
            </a:extLst>
          </p:cNvPr>
          <p:cNvSpPr>
            <a:spLocks noGrp="1"/>
          </p:cNvSpPr>
          <p:nvPr>
            <p:ph type="ftr" sz="quarter" idx="11"/>
          </p:nvPr>
        </p:nvSpPr>
        <p:spPr/>
        <p:txBody>
          <a:bodyPr/>
          <a:lstStyle/>
          <a:p>
            <a:r>
              <a:rPr lang="en-US"/>
              <a:t>© 2026 Vishal Lala</a:t>
            </a:r>
            <a:endParaRPr lang="en-US" dirty="0"/>
          </a:p>
        </p:txBody>
      </p:sp>
    </p:spTree>
    <p:extLst>
      <p:ext uri="{BB962C8B-B14F-4D97-AF65-F5344CB8AC3E}">
        <p14:creationId xmlns:p14="http://schemas.microsoft.com/office/powerpoint/2010/main" val="2399646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E8506-9C22-22E6-9234-4849B70129C5}"/>
              </a:ext>
            </a:extLst>
          </p:cNvPr>
          <p:cNvSpPr>
            <a:spLocks noGrp="1"/>
          </p:cNvSpPr>
          <p:nvPr>
            <p:ph type="title"/>
          </p:nvPr>
        </p:nvSpPr>
        <p:spPr/>
        <p:txBody>
          <a:bodyPr/>
          <a:lstStyle/>
          <a:p>
            <a:r>
              <a:rPr lang="en-US" dirty="0"/>
              <a:t>Tidy Data</a:t>
            </a:r>
          </a:p>
        </p:txBody>
      </p:sp>
      <p:sp>
        <p:nvSpPr>
          <p:cNvPr id="3" name="Content Placeholder 2">
            <a:extLst>
              <a:ext uri="{FF2B5EF4-FFF2-40B4-BE49-F238E27FC236}">
                <a16:creationId xmlns:a16="http://schemas.microsoft.com/office/drawing/2014/main" id="{BD8F67F9-3D49-FDE7-AB9E-DC70565BC361}"/>
              </a:ext>
            </a:extLst>
          </p:cNvPr>
          <p:cNvSpPr>
            <a:spLocks noGrp="1"/>
          </p:cNvSpPr>
          <p:nvPr>
            <p:ph idx="1"/>
          </p:nvPr>
        </p:nvSpPr>
        <p:spPr/>
        <p:txBody>
          <a:bodyPr/>
          <a:lstStyle/>
          <a:p>
            <a:r>
              <a:rPr lang="en-US" dirty="0"/>
              <a:t>Parsing: When variables are not the correct format</a:t>
            </a:r>
          </a:p>
          <a:p>
            <a:r>
              <a:rPr lang="en-US" dirty="0"/>
              <a:t>Feature Extraction: When variables are too raw for analysis</a:t>
            </a:r>
          </a:p>
          <a:p>
            <a:r>
              <a:rPr lang="en-US" dirty="0"/>
              <a:t>Restructuring: When the structure of data is not amenable for analysis</a:t>
            </a:r>
          </a:p>
          <a:p>
            <a:r>
              <a:rPr lang="en-US" dirty="0"/>
              <a:t>Joining tables: When data is spread across multiple tables</a:t>
            </a:r>
          </a:p>
          <a:p>
            <a:r>
              <a:rPr lang="en-US" dirty="0"/>
              <a:t>Imputation and Deletion: When data is missing</a:t>
            </a:r>
          </a:p>
        </p:txBody>
      </p:sp>
      <p:sp>
        <p:nvSpPr>
          <p:cNvPr id="4" name="Footer Placeholder 3">
            <a:extLst>
              <a:ext uri="{FF2B5EF4-FFF2-40B4-BE49-F238E27FC236}">
                <a16:creationId xmlns:a16="http://schemas.microsoft.com/office/drawing/2014/main" id="{0889861B-77DC-273F-E01B-F4EC714207FE}"/>
              </a:ext>
            </a:extLst>
          </p:cNvPr>
          <p:cNvSpPr>
            <a:spLocks noGrp="1"/>
          </p:cNvSpPr>
          <p:nvPr>
            <p:ph type="ftr" sz="quarter" idx="11"/>
          </p:nvPr>
        </p:nvSpPr>
        <p:spPr/>
        <p:txBody>
          <a:bodyPr/>
          <a:lstStyle/>
          <a:p>
            <a:r>
              <a:rPr lang="en-US"/>
              <a:t>© 2026 Vishal Lala</a:t>
            </a:r>
          </a:p>
        </p:txBody>
      </p:sp>
      <p:sp>
        <p:nvSpPr>
          <p:cNvPr id="5" name="Slide Number Placeholder 4">
            <a:extLst>
              <a:ext uri="{FF2B5EF4-FFF2-40B4-BE49-F238E27FC236}">
                <a16:creationId xmlns:a16="http://schemas.microsoft.com/office/drawing/2014/main" id="{6EADC6F9-7472-E365-E8F2-BAE686F84F26}"/>
              </a:ext>
            </a:extLst>
          </p:cNvPr>
          <p:cNvSpPr>
            <a:spLocks noGrp="1"/>
          </p:cNvSpPr>
          <p:nvPr>
            <p:ph type="sldNum" sz="quarter" idx="12"/>
          </p:nvPr>
        </p:nvSpPr>
        <p:spPr/>
        <p:txBody>
          <a:bodyPr/>
          <a:lstStyle/>
          <a:p>
            <a:fld id="{B9FD85AE-1124-49A6-8860-0DC337D80F96}" type="slidenum">
              <a:rPr lang="en-US" smtClean="0"/>
              <a:t>13</a:t>
            </a:fld>
            <a:endParaRPr lang="en-US"/>
          </a:p>
        </p:txBody>
      </p:sp>
    </p:spTree>
    <p:extLst>
      <p:ext uri="{BB962C8B-B14F-4D97-AF65-F5344CB8AC3E}">
        <p14:creationId xmlns:p14="http://schemas.microsoft.com/office/powerpoint/2010/main" val="2804669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Parsing</a:t>
            </a:r>
          </a:p>
        </p:txBody>
      </p:sp>
      <p:sp>
        <p:nvSpPr>
          <p:cNvPr id="6" name="Content Placeholder 5"/>
          <p:cNvSpPr>
            <a:spLocks noGrp="1"/>
          </p:cNvSpPr>
          <p:nvPr>
            <p:ph idx="1"/>
          </p:nvPr>
        </p:nvSpPr>
        <p:spPr/>
        <p:txBody>
          <a:bodyPr>
            <a:normAutofit/>
          </a:bodyPr>
          <a:lstStyle/>
          <a:p>
            <a:r>
              <a:rPr lang="en-US" dirty="0"/>
              <a:t>Data imported must assign the correct class to variables:  </a:t>
            </a:r>
          </a:p>
          <a:p>
            <a:pPr lvl="1"/>
            <a:r>
              <a:rPr lang="en-US" dirty="0"/>
              <a:t>Numbers using a type like int32 or float64</a:t>
            </a:r>
          </a:p>
          <a:p>
            <a:pPr lvl="1"/>
            <a:r>
              <a:rPr lang="en-US" dirty="0"/>
              <a:t>Text as string type  </a:t>
            </a:r>
          </a:p>
          <a:p>
            <a:pPr lvl="1"/>
            <a:r>
              <a:rPr lang="en-US" dirty="0"/>
              <a:t>Boolean as Boolean type</a:t>
            </a:r>
          </a:p>
          <a:p>
            <a:pPr lvl="1"/>
            <a:r>
              <a:rPr lang="en-US" dirty="0"/>
              <a:t>Dates using a suitable date type</a:t>
            </a:r>
          </a:p>
          <a:p>
            <a:pPr lvl="1"/>
            <a:r>
              <a:rPr lang="en-US" dirty="0"/>
              <a:t>Categorical variables as type category</a:t>
            </a: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pPr/>
              <a:t>14</a:t>
            </a:fld>
            <a:endParaRPr lang="en-US" dirty="0"/>
          </a:p>
        </p:txBody>
      </p:sp>
      <p:sp>
        <p:nvSpPr>
          <p:cNvPr id="2" name="Footer Placeholder 1">
            <a:extLst>
              <a:ext uri="{FF2B5EF4-FFF2-40B4-BE49-F238E27FC236}">
                <a16:creationId xmlns:a16="http://schemas.microsoft.com/office/drawing/2014/main" id="{1429C103-1E5C-D006-1237-248381512A70}"/>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229762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Parsing</a:t>
            </a:r>
          </a:p>
        </p:txBody>
      </p:sp>
      <p:sp>
        <p:nvSpPr>
          <p:cNvPr id="6" name="Content Placeholder 5"/>
          <p:cNvSpPr>
            <a:spLocks noGrp="1"/>
          </p:cNvSpPr>
          <p:nvPr>
            <p:ph idx="1"/>
          </p:nvPr>
        </p:nvSpPr>
        <p:spPr/>
        <p:txBody>
          <a:bodyPr>
            <a:normAutofit/>
          </a:bodyPr>
          <a:lstStyle/>
          <a:p>
            <a:r>
              <a:rPr lang="en-US" dirty="0"/>
              <a:t>Numbers</a:t>
            </a:r>
          </a:p>
          <a:p>
            <a:pPr lvl="1"/>
            <a:r>
              <a:rPr lang="en-US" dirty="0">
                <a:hlinkClick r:id="rId2"/>
              </a:rPr>
              <a:t>Conventions for writing numbers</a:t>
            </a:r>
            <a:r>
              <a:rPr lang="en-US" dirty="0"/>
              <a:t> differ across the world. For e.g., in the US, we use a period for a decimal point and a comma for grouping numbers but France does the exact opposite.  </a:t>
            </a:r>
          </a:p>
          <a:p>
            <a:pPr lvl="1"/>
            <a:r>
              <a:rPr lang="en-US" dirty="0"/>
              <a:t>Numbers may include characters or words to show context. E.g., $25, 25%, 25% increase in wages</a:t>
            </a: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pPr/>
              <a:t>15</a:t>
            </a:fld>
            <a:endParaRPr lang="en-US" dirty="0"/>
          </a:p>
        </p:txBody>
      </p:sp>
      <p:sp>
        <p:nvSpPr>
          <p:cNvPr id="2" name="Footer Placeholder 1">
            <a:extLst>
              <a:ext uri="{FF2B5EF4-FFF2-40B4-BE49-F238E27FC236}">
                <a16:creationId xmlns:a16="http://schemas.microsoft.com/office/drawing/2014/main" id="{B0B54D41-7A1D-A371-2841-B0BAECEF6184}"/>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247498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Parsing</a:t>
            </a:r>
          </a:p>
        </p:txBody>
      </p:sp>
      <p:sp>
        <p:nvSpPr>
          <p:cNvPr id="6" name="Content Placeholder 5"/>
          <p:cNvSpPr>
            <a:spLocks noGrp="1"/>
          </p:cNvSpPr>
          <p:nvPr>
            <p:ph idx="1"/>
          </p:nvPr>
        </p:nvSpPr>
        <p:spPr/>
        <p:txBody>
          <a:bodyPr>
            <a:normAutofit/>
          </a:bodyPr>
          <a:lstStyle/>
          <a:p>
            <a:r>
              <a:rPr lang="en-US" dirty="0"/>
              <a:t>Words</a:t>
            </a:r>
          </a:p>
          <a:p>
            <a:pPr lvl="1"/>
            <a:r>
              <a:rPr lang="en-US" dirty="0"/>
              <a:t>As such, words are easy to parse.</a:t>
            </a:r>
          </a:p>
          <a:p>
            <a:pPr lvl="1"/>
            <a:r>
              <a:rPr lang="en-US" dirty="0"/>
              <a:t>But this simple task is complicated by the use of special symbols (e.g., </a:t>
            </a:r>
            <a:r>
              <a:rPr lang="en-US" dirty="0" err="1"/>
              <a:t>Häagen-Dazs</a:t>
            </a:r>
            <a:r>
              <a:rPr lang="en-US" dirty="0"/>
              <a:t>), </a:t>
            </a:r>
            <a:r>
              <a:rPr lang="en-US" dirty="0" err="1"/>
              <a:t>non-english</a:t>
            </a:r>
            <a:r>
              <a:rPr lang="en-US" dirty="0"/>
              <a:t> languages, and </a:t>
            </a:r>
            <a:r>
              <a:rPr lang="en-US" dirty="0" err="1"/>
              <a:t>emojis</a:t>
            </a:r>
            <a:r>
              <a:rPr lang="en-US" dirty="0"/>
              <a:t>(e.g., 💩).</a:t>
            </a:r>
          </a:p>
          <a:p>
            <a:pPr lvl="1"/>
            <a:r>
              <a:rPr lang="en-US" dirty="0"/>
              <a:t>The ASCII system of encoding characters was not designed for such use cases.</a:t>
            </a:r>
          </a:p>
          <a:p>
            <a:pPr lvl="1"/>
            <a:r>
              <a:rPr lang="en-US" dirty="0"/>
              <a:t>This has given way to UTF-8, a more expansive and universal character coding format that extends the lexicon of ASCII.</a:t>
            </a: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pPr/>
              <a:t>16</a:t>
            </a:fld>
            <a:endParaRPr lang="en-US" dirty="0"/>
          </a:p>
        </p:txBody>
      </p:sp>
      <p:sp>
        <p:nvSpPr>
          <p:cNvPr id="2" name="Footer Placeholder 1">
            <a:extLst>
              <a:ext uri="{FF2B5EF4-FFF2-40B4-BE49-F238E27FC236}">
                <a16:creationId xmlns:a16="http://schemas.microsoft.com/office/drawing/2014/main" id="{450EDA44-581D-5B65-424A-D5021156A7F3}"/>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811885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Parsing</a:t>
            </a:r>
          </a:p>
        </p:txBody>
      </p:sp>
      <p:sp>
        <p:nvSpPr>
          <p:cNvPr id="6" name="Content Placeholder 5"/>
          <p:cNvSpPr>
            <a:spLocks noGrp="1"/>
          </p:cNvSpPr>
          <p:nvPr>
            <p:ph idx="1"/>
          </p:nvPr>
        </p:nvSpPr>
        <p:spPr/>
        <p:txBody>
          <a:bodyPr>
            <a:normAutofit/>
          </a:bodyPr>
          <a:lstStyle/>
          <a:p>
            <a:r>
              <a:rPr lang="en-US" dirty="0"/>
              <a:t>Dates</a:t>
            </a:r>
          </a:p>
          <a:p>
            <a:pPr lvl="1"/>
            <a:r>
              <a:rPr lang="en-US" dirty="0"/>
              <a:t>The conventions for expressing date and time vary across the world.. For e.g., US Independence Day can be written as </a:t>
            </a:r>
          </a:p>
          <a:p>
            <a:pPr lvl="2"/>
            <a:r>
              <a:rPr lang="en-US" dirty="0"/>
              <a:t>July 4, 1776</a:t>
            </a:r>
          </a:p>
          <a:p>
            <a:pPr lvl="2"/>
            <a:r>
              <a:rPr lang="en-US" dirty="0"/>
              <a:t>4/7/1776</a:t>
            </a:r>
          </a:p>
          <a:p>
            <a:pPr lvl="2"/>
            <a:r>
              <a:rPr lang="en-US" dirty="0"/>
              <a:t>7/4/1776</a:t>
            </a:r>
          </a:p>
          <a:p>
            <a:pPr lvl="2"/>
            <a:r>
              <a:rPr lang="en-US" dirty="0"/>
              <a:t>1776/7/4</a:t>
            </a:r>
          </a:p>
        </p:txBody>
      </p:sp>
      <p:sp>
        <p:nvSpPr>
          <p:cNvPr id="4" name="Slide Number Placeholder 3"/>
          <p:cNvSpPr>
            <a:spLocks noGrp="1"/>
          </p:cNvSpPr>
          <p:nvPr>
            <p:ph type="sldNum" sz="quarter" idx="12"/>
          </p:nvPr>
        </p:nvSpPr>
        <p:spPr/>
        <p:txBody>
          <a:bodyPr/>
          <a:lstStyle/>
          <a:p>
            <a:fld id="{69E57DC2-970A-4B3E-BB1C-7A09969E49DF}" type="slidenum">
              <a:rPr lang="en-US" smtClean="0"/>
              <a:pPr/>
              <a:t>17</a:t>
            </a:fld>
            <a:endParaRPr lang="en-US" dirty="0"/>
          </a:p>
        </p:txBody>
      </p:sp>
      <p:sp>
        <p:nvSpPr>
          <p:cNvPr id="2" name="Footer Placeholder 1">
            <a:extLst>
              <a:ext uri="{FF2B5EF4-FFF2-40B4-BE49-F238E27FC236}">
                <a16:creationId xmlns:a16="http://schemas.microsoft.com/office/drawing/2014/main" id="{B65EC405-A482-3B76-D6CA-FDC577CE5198}"/>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062022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Feature Engineering</a:t>
            </a:r>
          </a:p>
        </p:txBody>
      </p:sp>
      <p:sp>
        <p:nvSpPr>
          <p:cNvPr id="6" name="Content Placeholder 5"/>
          <p:cNvSpPr>
            <a:spLocks noGrp="1"/>
          </p:cNvSpPr>
          <p:nvPr>
            <p:ph idx="1"/>
          </p:nvPr>
        </p:nvSpPr>
        <p:spPr/>
        <p:txBody>
          <a:bodyPr>
            <a:normAutofit/>
          </a:bodyPr>
          <a:lstStyle/>
          <a:p>
            <a:r>
              <a:rPr lang="en-US" sz="2400" dirty="0"/>
              <a:t>Variables contained in a dataset seldom come in an analysis-ready format. </a:t>
            </a:r>
          </a:p>
          <a:p>
            <a:r>
              <a:rPr lang="en-US" sz="2400" dirty="0"/>
              <a:t>With suitable transformations, variables can be converted into useful features. </a:t>
            </a:r>
          </a:p>
          <a:p>
            <a:r>
              <a:rPr lang="en-US" sz="2400" dirty="0"/>
              <a:t>The nature and types of transformation depend on whether the variable is categorical or numeric. </a:t>
            </a:r>
          </a:p>
          <a:p>
            <a:r>
              <a:rPr lang="en-US" sz="2400" dirty="0"/>
              <a:t>Examining all variable transformations is beyond the scope of this course, but we will examine commonly used transformations.</a:t>
            </a:r>
          </a:p>
        </p:txBody>
      </p:sp>
      <p:sp>
        <p:nvSpPr>
          <p:cNvPr id="4" name="Slide Number Placeholder 3"/>
          <p:cNvSpPr>
            <a:spLocks noGrp="1"/>
          </p:cNvSpPr>
          <p:nvPr>
            <p:ph type="sldNum" sz="quarter" idx="12"/>
          </p:nvPr>
        </p:nvSpPr>
        <p:spPr/>
        <p:txBody>
          <a:bodyPr/>
          <a:lstStyle/>
          <a:p>
            <a:fld id="{69E57DC2-970A-4B3E-BB1C-7A09969E49DF}" type="slidenum">
              <a:rPr lang="en-US" smtClean="0"/>
              <a:pPr/>
              <a:t>18</a:t>
            </a:fld>
            <a:endParaRPr lang="en-US" dirty="0"/>
          </a:p>
        </p:txBody>
      </p:sp>
      <p:sp>
        <p:nvSpPr>
          <p:cNvPr id="2" name="Footer Placeholder 1">
            <a:extLst>
              <a:ext uri="{FF2B5EF4-FFF2-40B4-BE49-F238E27FC236}">
                <a16:creationId xmlns:a16="http://schemas.microsoft.com/office/drawing/2014/main" id="{4E5A2A6A-C35D-6D98-FB10-2033565F5C5E}"/>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199501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Engineering</a:t>
            </a:r>
            <a:br>
              <a:rPr lang="en-US" dirty="0"/>
            </a:br>
            <a:r>
              <a:rPr lang="en-US" dirty="0"/>
              <a:t>For Categorical Variables</a:t>
            </a:r>
          </a:p>
        </p:txBody>
      </p:sp>
      <p:sp>
        <p:nvSpPr>
          <p:cNvPr id="3" name="Content Placeholder 2"/>
          <p:cNvSpPr>
            <a:spLocks noGrp="1"/>
          </p:cNvSpPr>
          <p:nvPr>
            <p:ph idx="1"/>
          </p:nvPr>
        </p:nvSpPr>
        <p:spPr/>
        <p:txBody>
          <a:bodyPr>
            <a:normAutofit lnSpcReduction="10000"/>
          </a:bodyPr>
          <a:lstStyle/>
          <a:p>
            <a:r>
              <a:rPr lang="en-US" dirty="0"/>
              <a:t>Dummy Variables: A categorical variable with k levels is represented using k-1 dummy variables, where one of the levels serves as a reference level. A dummy variable can only take on two values, 0 and 1. An alternative, one-hot encoding represents k levels with k dummy variables.  </a:t>
            </a:r>
          </a:p>
          <a:p>
            <a:r>
              <a:rPr lang="en-US" dirty="0"/>
              <a:t>Remove Low Variance Variables: Remove variables with zero variance or low variance. </a:t>
            </a:r>
          </a:p>
          <a:p>
            <a:r>
              <a:rPr lang="en-US" dirty="0"/>
              <a:t>Lump categories: Combine sparse categories with a related category </a:t>
            </a:r>
          </a:p>
          <a:p>
            <a:r>
              <a:rPr lang="en-US" dirty="0"/>
              <a:t>Other Category: Combine rare categories into an Other category</a:t>
            </a:r>
          </a:p>
          <a:p>
            <a:r>
              <a:rPr lang="en-US" dirty="0"/>
              <a:t>Date and Time: Elements of date and time such as year and hour</a:t>
            </a:r>
          </a:p>
          <a:p>
            <a:r>
              <a:rPr lang="en-US" dirty="0"/>
              <a:t>Text: Elements of string type</a:t>
            </a:r>
          </a:p>
        </p:txBody>
      </p:sp>
      <p:sp>
        <p:nvSpPr>
          <p:cNvPr id="4" name="Slide Number Placeholder 3"/>
          <p:cNvSpPr>
            <a:spLocks noGrp="1"/>
          </p:cNvSpPr>
          <p:nvPr>
            <p:ph type="sldNum" sz="quarter" idx="12"/>
          </p:nvPr>
        </p:nvSpPr>
        <p:spPr/>
        <p:txBody>
          <a:bodyPr/>
          <a:lstStyle/>
          <a:p>
            <a:fld id="{69E57DC2-970A-4B3E-BB1C-7A09969E49DF}" type="slidenum">
              <a:rPr lang="en-US" smtClean="0"/>
              <a:t>19</a:t>
            </a:fld>
            <a:endParaRPr lang="en-US" dirty="0"/>
          </a:p>
        </p:txBody>
      </p:sp>
      <p:sp>
        <p:nvSpPr>
          <p:cNvPr id="5" name="Footer Placeholder 4">
            <a:extLst>
              <a:ext uri="{FF2B5EF4-FFF2-40B4-BE49-F238E27FC236}">
                <a16:creationId xmlns:a16="http://schemas.microsoft.com/office/drawing/2014/main" id="{EA078A74-16DE-4C50-68C7-D1087ABFD086}"/>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550650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Engineering</a:t>
            </a:r>
            <a:br>
              <a:rPr lang="en-US" dirty="0"/>
            </a:br>
            <a:r>
              <a:rPr lang="en-US" dirty="0"/>
              <a:t>For Numeric Variables</a:t>
            </a:r>
          </a:p>
        </p:txBody>
      </p:sp>
      <p:sp>
        <p:nvSpPr>
          <p:cNvPr id="3" name="Content Placeholder 2"/>
          <p:cNvSpPr>
            <a:spLocks noGrp="1"/>
          </p:cNvSpPr>
          <p:nvPr>
            <p:ph idx="1"/>
          </p:nvPr>
        </p:nvSpPr>
        <p:spPr/>
        <p:txBody>
          <a:bodyPr>
            <a:normAutofit/>
          </a:bodyPr>
          <a:lstStyle/>
          <a:p>
            <a:r>
              <a:rPr lang="en-US" dirty="0"/>
              <a:t>Scaling: Place all predictors in the same units by methods such as centering, standardizing and range scaling. </a:t>
            </a:r>
          </a:p>
          <a:p>
            <a:r>
              <a:rPr lang="en-US" dirty="0"/>
              <a:t>Skewness: Fix distribution of skewed variables by applying suitable methods (e.g., Box-Cox, Yeo-Johnson)</a:t>
            </a:r>
          </a:p>
          <a:p>
            <a:r>
              <a:rPr lang="en-US" dirty="0"/>
              <a:t>Low Variance: Remove variables with zero variance or low variance. </a:t>
            </a:r>
          </a:p>
          <a:p>
            <a:r>
              <a:rPr lang="en-US" dirty="0"/>
              <a:t>Simple Transformations: Transform variables to make it a more predictive feature (e.g., square, cube, interaction)</a:t>
            </a:r>
          </a:p>
          <a:p>
            <a:r>
              <a:rPr lang="en-US" dirty="0"/>
              <a:t>Combine Variables: Construct a weighted or unweighted index by combing variables.</a:t>
            </a:r>
          </a:p>
          <a:p>
            <a:r>
              <a:rPr lang="en-US" dirty="0"/>
              <a:t>Binning: Group a numeric variable into a set of two more discrete bins. </a:t>
            </a:r>
          </a:p>
        </p:txBody>
      </p:sp>
      <p:sp>
        <p:nvSpPr>
          <p:cNvPr id="4" name="Slide Number Placeholder 3"/>
          <p:cNvSpPr>
            <a:spLocks noGrp="1"/>
          </p:cNvSpPr>
          <p:nvPr>
            <p:ph type="sldNum" sz="quarter" idx="12"/>
          </p:nvPr>
        </p:nvSpPr>
        <p:spPr/>
        <p:txBody>
          <a:bodyPr/>
          <a:lstStyle/>
          <a:p>
            <a:fld id="{69E57DC2-970A-4B3E-BB1C-7A09969E49DF}" type="slidenum">
              <a:rPr lang="en-US" smtClean="0"/>
              <a:t>20</a:t>
            </a:fld>
            <a:endParaRPr lang="en-US" dirty="0"/>
          </a:p>
        </p:txBody>
      </p:sp>
      <p:sp>
        <p:nvSpPr>
          <p:cNvPr id="5" name="Footer Placeholder 4">
            <a:extLst>
              <a:ext uri="{FF2B5EF4-FFF2-40B4-BE49-F238E27FC236}">
                <a16:creationId xmlns:a16="http://schemas.microsoft.com/office/drawing/2014/main" id="{B35826DF-C8C4-7B81-F50A-D610FC4CA0C4}"/>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076061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Restructure Data</a:t>
            </a:r>
          </a:p>
        </p:txBody>
      </p:sp>
      <p:sp>
        <p:nvSpPr>
          <p:cNvPr id="7" name="Content Placeholder 6"/>
          <p:cNvSpPr>
            <a:spLocks noGrp="1"/>
          </p:cNvSpPr>
          <p:nvPr>
            <p:ph idx="1"/>
          </p:nvPr>
        </p:nvSpPr>
        <p:spPr/>
        <p:txBody>
          <a:bodyPr/>
          <a:lstStyle/>
          <a:p>
            <a:r>
              <a:rPr lang="en-US" dirty="0"/>
              <a:t>Sometimes, structure of the data may get in the way of analyses</a:t>
            </a:r>
          </a:p>
          <a:p>
            <a:r>
              <a:rPr lang="en-US" dirty="0"/>
              <a:t>Hadley Wickham recommends the use of a </a:t>
            </a:r>
            <a:r>
              <a:rPr lang="en-US" i="1" dirty="0"/>
              <a:t>tidy </a:t>
            </a:r>
            <a:r>
              <a:rPr lang="en-US" dirty="0"/>
              <a:t>data structure which is one in which</a:t>
            </a:r>
          </a:p>
          <a:p>
            <a:pPr lvl="1"/>
            <a:r>
              <a:rPr lang="en-US" dirty="0"/>
              <a:t>Each variable has its own column</a:t>
            </a:r>
          </a:p>
          <a:p>
            <a:pPr lvl="1"/>
            <a:r>
              <a:rPr lang="en-US" dirty="0"/>
              <a:t>Each observation has its own row</a:t>
            </a:r>
          </a:p>
          <a:p>
            <a:pPr lvl="1"/>
            <a:r>
              <a:rPr lang="en-US" dirty="0"/>
              <a:t>Each values has its own cell</a:t>
            </a:r>
          </a:p>
          <a:p>
            <a:r>
              <a:rPr lang="en-US" dirty="0"/>
              <a:t>Choice of structure is often driven by the functions to be used and analytical technique to be conducted. </a:t>
            </a:r>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pPr/>
              <a:t>21</a:t>
            </a:fld>
            <a:endParaRPr lang="en-US" dirty="0"/>
          </a:p>
        </p:txBody>
      </p:sp>
      <p:sp>
        <p:nvSpPr>
          <p:cNvPr id="2" name="Footer Placeholder 1">
            <a:extLst>
              <a:ext uri="{FF2B5EF4-FFF2-40B4-BE49-F238E27FC236}">
                <a16:creationId xmlns:a16="http://schemas.microsoft.com/office/drawing/2014/main" id="{FF721ECF-A40F-911F-A4EE-83B251C41E37}"/>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046804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Restructure Data</a:t>
            </a:r>
          </a:p>
        </p:txBody>
      </p:sp>
      <p:sp>
        <p:nvSpPr>
          <p:cNvPr id="10" name="Text Placeholder 9"/>
          <p:cNvSpPr>
            <a:spLocks noGrp="1"/>
          </p:cNvSpPr>
          <p:nvPr>
            <p:ph type="body" idx="1"/>
          </p:nvPr>
        </p:nvSpPr>
        <p:spPr/>
        <p:txBody>
          <a:bodyPr/>
          <a:lstStyle/>
          <a:p>
            <a:r>
              <a:rPr lang="en-US" dirty="0"/>
              <a:t>Wide Data</a:t>
            </a:r>
          </a:p>
        </p:txBody>
      </p:sp>
      <p:pic>
        <p:nvPicPr>
          <p:cNvPr id="14" name="Content Placeholder 13"/>
          <p:cNvPicPr>
            <a:picLocks noGrp="1" noChangeAspect="1"/>
          </p:cNvPicPr>
          <p:nvPr>
            <p:ph sz="half" idx="2"/>
          </p:nvPr>
        </p:nvPicPr>
        <p:blipFill>
          <a:blip r:embed="rId2"/>
          <a:stretch>
            <a:fillRect/>
          </a:stretch>
        </p:blipFill>
        <p:spPr>
          <a:xfrm>
            <a:off x="1512916" y="3844510"/>
            <a:ext cx="3242440" cy="1156116"/>
          </a:xfrm>
          <a:prstGeom prst="rect">
            <a:avLst/>
          </a:prstGeom>
        </p:spPr>
      </p:pic>
      <p:sp>
        <p:nvSpPr>
          <p:cNvPr id="12" name="Text Placeholder 11"/>
          <p:cNvSpPr>
            <a:spLocks noGrp="1"/>
          </p:cNvSpPr>
          <p:nvPr>
            <p:ph type="body" sz="quarter" idx="3"/>
          </p:nvPr>
        </p:nvSpPr>
        <p:spPr/>
        <p:txBody>
          <a:bodyPr/>
          <a:lstStyle/>
          <a:p>
            <a:r>
              <a:rPr lang="en-US" dirty="0"/>
              <a:t>Tall Data</a:t>
            </a:r>
          </a:p>
        </p:txBody>
      </p:sp>
      <p:pic>
        <p:nvPicPr>
          <p:cNvPr id="15" name="Content Placeholder 14"/>
          <p:cNvPicPr>
            <a:picLocks noGrp="1" noChangeAspect="1"/>
          </p:cNvPicPr>
          <p:nvPr>
            <p:ph sz="quarter" idx="4"/>
          </p:nvPr>
        </p:nvPicPr>
        <p:blipFill>
          <a:blip r:embed="rId3"/>
          <a:stretch>
            <a:fillRect/>
          </a:stretch>
        </p:blipFill>
        <p:spPr>
          <a:xfrm>
            <a:off x="6666807" y="3836125"/>
            <a:ext cx="3175693" cy="1919223"/>
          </a:xfrm>
          <a:prstGeom prst="rect">
            <a:avLst/>
          </a:prstGeom>
        </p:spPr>
      </p:pic>
      <p:sp>
        <p:nvSpPr>
          <p:cNvPr id="5" name="Slide Number Placeholder 4"/>
          <p:cNvSpPr>
            <a:spLocks noGrp="1"/>
          </p:cNvSpPr>
          <p:nvPr>
            <p:ph type="sldNum" sz="quarter" idx="12"/>
          </p:nvPr>
        </p:nvSpPr>
        <p:spPr/>
        <p:txBody>
          <a:bodyPr/>
          <a:lstStyle/>
          <a:p>
            <a:fld id="{69E57DC2-970A-4B3E-BB1C-7A09969E49DF}" type="slidenum">
              <a:rPr lang="en-US" smtClean="0"/>
              <a:t>22</a:t>
            </a:fld>
            <a:endParaRPr lang="en-US" dirty="0"/>
          </a:p>
        </p:txBody>
      </p:sp>
      <p:sp>
        <p:nvSpPr>
          <p:cNvPr id="2" name="Footer Placeholder 1">
            <a:extLst>
              <a:ext uri="{FF2B5EF4-FFF2-40B4-BE49-F238E27FC236}">
                <a16:creationId xmlns:a16="http://schemas.microsoft.com/office/drawing/2014/main" id="{E1F4BEDF-4335-34DA-C241-D17AC59AB578}"/>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048452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normAutofit/>
          </a:bodyPr>
          <a:lstStyle/>
          <a:p>
            <a:r>
              <a:rPr lang="en-US" dirty="0"/>
              <a:t>Data is generally spread across multiple tables rather than in a single flat file. </a:t>
            </a:r>
          </a:p>
          <a:p>
            <a:r>
              <a:rPr lang="en-US" dirty="0"/>
              <a:t>These tables share a common variable or field, thus are related (which is why these tables are also known as relations). All the tables or relations together comprise a relational database.</a:t>
            </a:r>
          </a:p>
          <a:p>
            <a:r>
              <a:rPr lang="en-US" dirty="0"/>
              <a:t>Storing data across relations offers a number of benefits such as reduced redundancy, fewer errors from updates, and greater efficiency in storage and retrieval. </a:t>
            </a:r>
          </a:p>
          <a:p>
            <a:r>
              <a:rPr lang="en-US" dirty="0"/>
              <a:t>The data required for analysis at hand is retrieved by linking relations through joins. The languages most widely used for this is SQL, however, this can also be accomplished using other languages like Python and R.</a:t>
            </a:r>
          </a:p>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23</a:t>
            </a:fld>
            <a:endParaRPr lang="en-US" dirty="0"/>
          </a:p>
        </p:txBody>
      </p:sp>
      <p:sp>
        <p:nvSpPr>
          <p:cNvPr id="5" name="Footer Placeholder 4">
            <a:extLst>
              <a:ext uri="{FF2B5EF4-FFF2-40B4-BE49-F238E27FC236}">
                <a16:creationId xmlns:a16="http://schemas.microsoft.com/office/drawing/2014/main" id="{D5D8C358-C2F5-A0B3-95F5-DB30086203DD}"/>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546705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lstStyle/>
          <a:p>
            <a:r>
              <a:rPr lang="en-US" dirty="0"/>
              <a:t>Types of Joins</a:t>
            </a:r>
          </a:p>
          <a:p>
            <a:pPr lvl="1"/>
            <a:r>
              <a:rPr lang="en-US" dirty="0"/>
              <a:t>Inner Join</a:t>
            </a:r>
          </a:p>
          <a:p>
            <a:pPr lvl="1"/>
            <a:r>
              <a:rPr lang="en-US" dirty="0"/>
              <a:t>Outer Joins</a:t>
            </a:r>
          </a:p>
          <a:p>
            <a:pPr lvl="2"/>
            <a:r>
              <a:rPr lang="en-US" dirty="0"/>
              <a:t>Left Outer Join</a:t>
            </a:r>
          </a:p>
          <a:p>
            <a:pPr lvl="2"/>
            <a:r>
              <a:rPr lang="en-US" dirty="0"/>
              <a:t>Right Outer Join</a:t>
            </a:r>
          </a:p>
          <a:p>
            <a:pPr lvl="2"/>
            <a:r>
              <a:rPr lang="en-US" dirty="0"/>
              <a:t>Full Outer Join</a:t>
            </a:r>
          </a:p>
          <a:p>
            <a:pPr lvl="1"/>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24</a:t>
            </a:fld>
            <a:endParaRPr lang="en-US" dirty="0"/>
          </a:p>
        </p:txBody>
      </p:sp>
      <p:sp>
        <p:nvSpPr>
          <p:cNvPr id="5" name="Footer Placeholder 4">
            <a:extLst>
              <a:ext uri="{FF2B5EF4-FFF2-40B4-BE49-F238E27FC236}">
                <a16:creationId xmlns:a16="http://schemas.microsoft.com/office/drawing/2014/main" id="{1BE28095-4D93-8C93-359C-D1D3B60EBE50}"/>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057213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Data</a:t>
            </a:r>
          </a:p>
        </p:txBody>
      </p:sp>
      <p:sp>
        <p:nvSpPr>
          <p:cNvPr id="3" name="Content Placeholder 2"/>
          <p:cNvSpPr>
            <a:spLocks noGrp="1"/>
          </p:cNvSpPr>
          <p:nvPr>
            <p:ph idx="1"/>
          </p:nvPr>
        </p:nvSpPr>
        <p:spPr/>
        <p:txBody>
          <a:bodyPr/>
          <a:lstStyle/>
          <a:p>
            <a:r>
              <a:rPr lang="en-US" dirty="0"/>
              <a:t>Common in real datasets</a:t>
            </a:r>
          </a:p>
          <a:p>
            <a:r>
              <a:rPr lang="en-US" dirty="0"/>
              <a:t>Critical to address it as many predictive models require complete data</a:t>
            </a:r>
          </a:p>
          <a:p>
            <a:r>
              <a:rPr lang="en-US" dirty="0"/>
              <a:t>Important to understand reasons for missing data in order to decide what do with it</a:t>
            </a:r>
          </a:p>
        </p:txBody>
      </p:sp>
      <p:sp>
        <p:nvSpPr>
          <p:cNvPr id="4" name="Slide Number Placeholder 3"/>
          <p:cNvSpPr>
            <a:spLocks noGrp="1"/>
          </p:cNvSpPr>
          <p:nvPr>
            <p:ph type="sldNum" sz="quarter" idx="12"/>
          </p:nvPr>
        </p:nvSpPr>
        <p:spPr/>
        <p:txBody>
          <a:bodyPr/>
          <a:lstStyle/>
          <a:p>
            <a:fld id="{69E57DC2-970A-4B3E-BB1C-7A09969E49DF}" type="slidenum">
              <a:rPr lang="en-US" smtClean="0"/>
              <a:t>25</a:t>
            </a:fld>
            <a:endParaRPr lang="en-US" dirty="0"/>
          </a:p>
        </p:txBody>
      </p:sp>
      <p:sp>
        <p:nvSpPr>
          <p:cNvPr id="5" name="Footer Placeholder 4">
            <a:extLst>
              <a:ext uri="{FF2B5EF4-FFF2-40B4-BE49-F238E27FC236}">
                <a16:creationId xmlns:a16="http://schemas.microsoft.com/office/drawing/2014/main" id="{0C915EB9-91F5-AA37-1E55-0B3D317B6392}"/>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954477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Data</a:t>
            </a:r>
          </a:p>
        </p:txBody>
      </p:sp>
      <p:sp>
        <p:nvSpPr>
          <p:cNvPr id="4" name="Slide Number Placeholder 3"/>
          <p:cNvSpPr>
            <a:spLocks noGrp="1"/>
          </p:cNvSpPr>
          <p:nvPr>
            <p:ph type="sldNum" sz="quarter" idx="12"/>
          </p:nvPr>
        </p:nvSpPr>
        <p:spPr/>
        <p:txBody>
          <a:bodyPr/>
          <a:lstStyle/>
          <a:p>
            <a:fld id="{69E57DC2-970A-4B3E-BB1C-7A09969E49DF}" type="slidenum">
              <a:rPr lang="en-US" smtClean="0"/>
              <a:t>26</a:t>
            </a:fld>
            <a:endParaRPr lang="en-US" dirty="0"/>
          </a:p>
        </p:txBody>
      </p:sp>
      <p:sp>
        <p:nvSpPr>
          <p:cNvPr id="12" name="Content Placeholder 11"/>
          <p:cNvSpPr>
            <a:spLocks noGrp="1"/>
          </p:cNvSpPr>
          <p:nvPr>
            <p:ph sz="half" idx="1"/>
          </p:nvPr>
        </p:nvSpPr>
        <p:spPr/>
        <p:txBody>
          <a:bodyPr/>
          <a:lstStyle/>
          <a:p>
            <a:r>
              <a:rPr lang="en-US" dirty="0"/>
              <a:t>Possible reasons may be </a:t>
            </a:r>
          </a:p>
          <a:p>
            <a:pPr lvl="1"/>
            <a:r>
              <a:rPr lang="en-US" dirty="0"/>
              <a:t>Random</a:t>
            </a:r>
          </a:p>
          <a:p>
            <a:pPr lvl="1"/>
            <a:r>
              <a:rPr lang="en-US" dirty="0"/>
              <a:t>Data deficiency</a:t>
            </a:r>
          </a:p>
          <a:p>
            <a:pPr lvl="1"/>
            <a:r>
              <a:rPr lang="en-US" dirty="0"/>
              <a:t>Specific causes</a:t>
            </a:r>
          </a:p>
          <a:p>
            <a:endParaRPr lang="en-US" dirty="0"/>
          </a:p>
          <a:p>
            <a:r>
              <a:rPr lang="en-US" dirty="0"/>
              <a:t>Pattern in a </a:t>
            </a:r>
            <a:r>
              <a:rPr lang="en-US" dirty="0" err="1"/>
              <a:t>heatmap</a:t>
            </a:r>
            <a:r>
              <a:rPr lang="en-US" dirty="0"/>
              <a:t> may highlight reasons</a:t>
            </a:r>
          </a:p>
          <a:p>
            <a:endParaRPr lang="en-US" dirty="0"/>
          </a:p>
        </p:txBody>
      </p:sp>
      <p:pic>
        <p:nvPicPr>
          <p:cNvPr id="1026" name="Picture 2" descr="No description has been provided for this image">
            <a:extLst>
              <a:ext uri="{FF2B5EF4-FFF2-40B4-BE49-F238E27FC236}">
                <a16:creationId xmlns:a16="http://schemas.microsoft.com/office/drawing/2014/main" id="{4329694D-0A4D-62D2-924B-FAF4AC72830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24625" y="2693345"/>
            <a:ext cx="4448175" cy="2766710"/>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BAD93E26-73E5-DE5E-1C00-F25F40D47CF7}"/>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562473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Data</a:t>
            </a:r>
            <a:br>
              <a:rPr lang="en-US" dirty="0"/>
            </a:br>
            <a:r>
              <a:rPr lang="en-US" dirty="0"/>
              <a:t>Solutions</a:t>
            </a:r>
          </a:p>
        </p:txBody>
      </p:sp>
      <p:sp>
        <p:nvSpPr>
          <p:cNvPr id="6" name="Content Placeholder 5"/>
          <p:cNvSpPr>
            <a:spLocks noGrp="1"/>
          </p:cNvSpPr>
          <p:nvPr>
            <p:ph sz="half" idx="1"/>
          </p:nvPr>
        </p:nvSpPr>
        <p:spPr/>
        <p:txBody>
          <a:bodyPr>
            <a:normAutofit lnSpcReduction="10000"/>
          </a:bodyPr>
          <a:lstStyle/>
          <a:p>
            <a:pPr marL="457200" indent="-457200">
              <a:buFont typeface="+mj-lt"/>
              <a:buAutoNum type="arabicPeriod"/>
            </a:pPr>
            <a:r>
              <a:rPr lang="en-US" dirty="0"/>
              <a:t>Delete</a:t>
            </a:r>
          </a:p>
          <a:p>
            <a:pPr marL="457200" indent="-457200">
              <a:buFont typeface="+mj-lt"/>
              <a:buAutoNum type="arabicPeriod"/>
            </a:pPr>
            <a:r>
              <a:rPr lang="en-US" dirty="0">
                <a:solidFill>
                  <a:schemeClr val="bg1">
                    <a:lumMod val="65000"/>
                  </a:schemeClr>
                </a:solidFill>
              </a:rPr>
              <a:t>Encode Missing Data</a:t>
            </a:r>
          </a:p>
          <a:p>
            <a:pPr marL="457200" indent="-457200">
              <a:buFont typeface="+mj-lt"/>
              <a:buAutoNum type="arabicPeriod"/>
            </a:pPr>
            <a:r>
              <a:rPr lang="en-US" dirty="0">
                <a:solidFill>
                  <a:schemeClr val="bg1">
                    <a:lumMod val="65000"/>
                  </a:schemeClr>
                </a:solidFill>
              </a:rPr>
              <a:t>Impute</a:t>
            </a:r>
          </a:p>
        </p:txBody>
      </p:sp>
      <p:sp>
        <p:nvSpPr>
          <p:cNvPr id="10" name="Content Placeholder 9"/>
          <p:cNvSpPr>
            <a:spLocks noGrp="1"/>
          </p:cNvSpPr>
          <p:nvPr>
            <p:ph sz="half" idx="2"/>
          </p:nvPr>
        </p:nvSpPr>
        <p:spPr>
          <a:xfrm>
            <a:off x="5819386" y="2285999"/>
            <a:ext cx="5153803" cy="3581401"/>
          </a:xfrm>
        </p:spPr>
        <p:txBody>
          <a:bodyPr>
            <a:normAutofit lnSpcReduction="10000"/>
          </a:bodyPr>
          <a:lstStyle/>
          <a:p>
            <a:r>
              <a:rPr lang="en-US" dirty="0"/>
              <a:t>Simple solution</a:t>
            </a:r>
          </a:p>
          <a:p>
            <a:r>
              <a:rPr lang="en-US" dirty="0"/>
              <a:t>Delete</a:t>
            </a:r>
          </a:p>
          <a:p>
            <a:pPr lvl="1"/>
            <a:r>
              <a:rPr lang="en-US" dirty="0"/>
              <a:t>Pairwise</a:t>
            </a:r>
          </a:p>
          <a:p>
            <a:pPr lvl="1"/>
            <a:r>
              <a:rPr lang="en-US" dirty="0"/>
              <a:t>Listwise</a:t>
            </a:r>
          </a:p>
          <a:p>
            <a:r>
              <a:rPr lang="en-US" dirty="0"/>
              <a:t>However,</a:t>
            </a:r>
          </a:p>
          <a:p>
            <a:pPr lvl="1"/>
            <a:r>
              <a:rPr lang="en-US" dirty="0"/>
              <a:t>small number of missing values can lead to losing a large percent of sample. </a:t>
            </a:r>
          </a:p>
          <a:p>
            <a:pPr lvl="1"/>
            <a:r>
              <a:rPr lang="en-US" dirty="0"/>
              <a:t>acquiring new data may be costly</a:t>
            </a:r>
          </a:p>
          <a:p>
            <a:pPr lvl="1"/>
            <a:r>
              <a:rPr lang="en-US" dirty="0"/>
              <a:t>potential of introducing bias</a:t>
            </a:r>
          </a:p>
        </p:txBody>
      </p:sp>
      <p:sp>
        <p:nvSpPr>
          <p:cNvPr id="5" name="Slide Number Placeholder 4"/>
          <p:cNvSpPr>
            <a:spLocks noGrp="1"/>
          </p:cNvSpPr>
          <p:nvPr>
            <p:ph type="sldNum" sz="quarter" idx="12"/>
          </p:nvPr>
        </p:nvSpPr>
        <p:spPr/>
        <p:txBody>
          <a:bodyPr/>
          <a:lstStyle/>
          <a:p>
            <a:fld id="{69E57DC2-970A-4B3E-BB1C-7A09969E49DF}" type="slidenum">
              <a:rPr lang="en-US" smtClean="0"/>
              <a:t>27</a:t>
            </a:fld>
            <a:endParaRPr lang="en-US" dirty="0"/>
          </a:p>
        </p:txBody>
      </p:sp>
      <p:sp>
        <p:nvSpPr>
          <p:cNvPr id="3" name="Footer Placeholder 2">
            <a:extLst>
              <a:ext uri="{FF2B5EF4-FFF2-40B4-BE49-F238E27FC236}">
                <a16:creationId xmlns:a16="http://schemas.microsoft.com/office/drawing/2014/main" id="{1F565DA6-FEAA-6539-D3BB-5A1134421902}"/>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856777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Data</a:t>
            </a:r>
            <a:br>
              <a:rPr lang="en-US" dirty="0"/>
            </a:br>
            <a:r>
              <a:rPr lang="en-US" dirty="0"/>
              <a:t>Solutions</a:t>
            </a:r>
          </a:p>
        </p:txBody>
      </p:sp>
      <p:sp>
        <p:nvSpPr>
          <p:cNvPr id="6" name="Content Placeholder 5"/>
          <p:cNvSpPr>
            <a:spLocks noGrp="1"/>
          </p:cNvSpPr>
          <p:nvPr>
            <p:ph sz="half" idx="1"/>
          </p:nvPr>
        </p:nvSpPr>
        <p:spPr/>
        <p:txBody>
          <a:bodyPr/>
          <a:lstStyle/>
          <a:p>
            <a:pPr marL="457200" indent="-457200">
              <a:buFont typeface="+mj-lt"/>
              <a:buAutoNum type="arabicPeriod"/>
            </a:pPr>
            <a:r>
              <a:rPr lang="en-US" dirty="0">
                <a:solidFill>
                  <a:schemeClr val="bg1">
                    <a:lumMod val="65000"/>
                  </a:schemeClr>
                </a:solidFill>
              </a:rPr>
              <a:t>Delete</a:t>
            </a:r>
          </a:p>
          <a:p>
            <a:pPr marL="457200" indent="-457200">
              <a:buFont typeface="+mj-lt"/>
              <a:buAutoNum type="arabicPeriod"/>
            </a:pPr>
            <a:r>
              <a:rPr lang="en-US" dirty="0"/>
              <a:t>Encode Missing Data</a:t>
            </a:r>
          </a:p>
          <a:p>
            <a:pPr marL="457200" indent="-457200">
              <a:buFont typeface="+mj-lt"/>
              <a:buAutoNum type="arabicPeriod"/>
            </a:pPr>
            <a:r>
              <a:rPr lang="en-US" dirty="0">
                <a:solidFill>
                  <a:schemeClr val="bg1">
                    <a:lumMod val="65000"/>
                  </a:schemeClr>
                </a:solidFill>
              </a:rPr>
              <a:t>Impute</a:t>
            </a:r>
          </a:p>
        </p:txBody>
      </p:sp>
      <p:sp>
        <p:nvSpPr>
          <p:cNvPr id="3" name="Content Placeholder 2"/>
          <p:cNvSpPr>
            <a:spLocks noGrp="1"/>
          </p:cNvSpPr>
          <p:nvPr>
            <p:ph sz="half" idx="2"/>
          </p:nvPr>
        </p:nvSpPr>
        <p:spPr>
          <a:xfrm>
            <a:off x="5885411" y="2285999"/>
            <a:ext cx="5087778" cy="3581401"/>
          </a:xfrm>
        </p:spPr>
        <p:txBody>
          <a:bodyPr/>
          <a:lstStyle/>
          <a:p>
            <a:r>
              <a:rPr lang="en-US" dirty="0"/>
              <a:t>Hard code </a:t>
            </a:r>
            <a:r>
              <a:rPr lang="en-US" dirty="0" err="1"/>
              <a:t>missingness</a:t>
            </a:r>
            <a:endParaRPr lang="en-US" dirty="0"/>
          </a:p>
          <a:p>
            <a:r>
              <a:rPr lang="en-US" dirty="0"/>
              <a:t>In a categorical variable, missing data may be encoded as another level</a:t>
            </a:r>
          </a:p>
          <a:p>
            <a:r>
              <a:rPr lang="en-US" dirty="0"/>
              <a:t>Missing data in a continuous variable may be represented using a dummy variable. </a:t>
            </a:r>
          </a:p>
        </p:txBody>
      </p:sp>
      <p:sp>
        <p:nvSpPr>
          <p:cNvPr id="5" name="Slide Number Placeholder 4"/>
          <p:cNvSpPr>
            <a:spLocks noGrp="1"/>
          </p:cNvSpPr>
          <p:nvPr>
            <p:ph type="sldNum" sz="quarter" idx="12"/>
          </p:nvPr>
        </p:nvSpPr>
        <p:spPr/>
        <p:txBody>
          <a:bodyPr/>
          <a:lstStyle/>
          <a:p>
            <a:fld id="{69E57DC2-970A-4B3E-BB1C-7A09969E49DF}" type="slidenum">
              <a:rPr lang="en-US" smtClean="0"/>
              <a:t>28</a:t>
            </a:fld>
            <a:endParaRPr lang="en-US" dirty="0"/>
          </a:p>
        </p:txBody>
      </p:sp>
      <p:sp>
        <p:nvSpPr>
          <p:cNvPr id="4" name="Footer Placeholder 3">
            <a:extLst>
              <a:ext uri="{FF2B5EF4-FFF2-40B4-BE49-F238E27FC236}">
                <a16:creationId xmlns:a16="http://schemas.microsoft.com/office/drawing/2014/main" id="{31CD4BE2-C037-9A83-DA9B-C9BEC32D0C39}"/>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062798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Data</a:t>
            </a:r>
            <a:br>
              <a:rPr lang="en-US" dirty="0"/>
            </a:br>
            <a:r>
              <a:rPr lang="en-US" dirty="0"/>
              <a:t>Solutions</a:t>
            </a:r>
          </a:p>
        </p:txBody>
      </p:sp>
      <p:sp>
        <p:nvSpPr>
          <p:cNvPr id="6" name="Content Placeholder 5"/>
          <p:cNvSpPr>
            <a:spLocks noGrp="1"/>
          </p:cNvSpPr>
          <p:nvPr>
            <p:ph sz="half" idx="1"/>
          </p:nvPr>
        </p:nvSpPr>
        <p:spPr/>
        <p:txBody>
          <a:bodyPr>
            <a:normAutofit fontScale="92500" lnSpcReduction="20000"/>
          </a:bodyPr>
          <a:lstStyle/>
          <a:p>
            <a:pPr marL="457200" indent="-457200">
              <a:buFont typeface="+mj-lt"/>
              <a:buAutoNum type="arabicPeriod"/>
            </a:pPr>
            <a:r>
              <a:rPr lang="en-US" dirty="0">
                <a:solidFill>
                  <a:schemeClr val="bg1">
                    <a:lumMod val="65000"/>
                  </a:schemeClr>
                </a:solidFill>
              </a:rPr>
              <a:t>Delete</a:t>
            </a:r>
          </a:p>
          <a:p>
            <a:pPr marL="457200" indent="-457200">
              <a:buFont typeface="+mj-lt"/>
              <a:buAutoNum type="arabicPeriod"/>
            </a:pPr>
            <a:r>
              <a:rPr lang="en-US" dirty="0">
                <a:solidFill>
                  <a:schemeClr val="bg1">
                    <a:lumMod val="65000"/>
                  </a:schemeClr>
                </a:solidFill>
              </a:rPr>
              <a:t>Encode Missing Data</a:t>
            </a:r>
          </a:p>
          <a:p>
            <a:pPr marL="457200" indent="-457200">
              <a:buFont typeface="+mj-lt"/>
              <a:buAutoNum type="arabicPeriod"/>
            </a:pPr>
            <a:r>
              <a:rPr lang="en-US" dirty="0"/>
              <a:t>Impute</a:t>
            </a:r>
          </a:p>
        </p:txBody>
      </p:sp>
      <p:sp>
        <p:nvSpPr>
          <p:cNvPr id="3" name="Content Placeholder 2"/>
          <p:cNvSpPr>
            <a:spLocks noGrp="1"/>
          </p:cNvSpPr>
          <p:nvPr>
            <p:ph sz="half" idx="2"/>
          </p:nvPr>
        </p:nvSpPr>
        <p:spPr>
          <a:xfrm>
            <a:off x="5910349" y="2285999"/>
            <a:ext cx="5062840" cy="3581401"/>
          </a:xfrm>
        </p:spPr>
        <p:txBody>
          <a:bodyPr>
            <a:normAutofit fontScale="92500" lnSpcReduction="20000"/>
          </a:bodyPr>
          <a:lstStyle/>
          <a:p>
            <a:r>
              <a:rPr lang="en-US" dirty="0"/>
              <a:t>Information and relationships among non-missing predictors is used to estimate missing values</a:t>
            </a:r>
          </a:p>
          <a:p>
            <a:r>
              <a:rPr lang="en-US" dirty="0"/>
              <a:t>Univariate techniques: Use a non-biasing estimate like mean or median.</a:t>
            </a:r>
          </a:p>
          <a:p>
            <a:r>
              <a:rPr lang="en-US" dirty="0"/>
              <a:t>Multivariate techniques: Use data on other variables to estimate missing values. </a:t>
            </a:r>
            <a:r>
              <a:rPr lang="en-US" dirty="0" err="1"/>
              <a:t>E.g</a:t>
            </a:r>
            <a:r>
              <a:rPr lang="en-US" dirty="0"/>
              <a:t>, </a:t>
            </a:r>
            <a:r>
              <a:rPr lang="en-US" dirty="0" err="1"/>
              <a:t>kNN</a:t>
            </a:r>
            <a:r>
              <a:rPr lang="en-US" dirty="0"/>
              <a:t>, MICE. </a:t>
            </a:r>
          </a:p>
          <a:p>
            <a:r>
              <a:rPr lang="en-US" dirty="0"/>
              <a:t>Impute no more than 20% missing data for any variable</a:t>
            </a:r>
          </a:p>
          <a:p>
            <a:r>
              <a:rPr lang="en-US" dirty="0"/>
              <a:t>Conducted prior to other steps in data preparation</a:t>
            </a:r>
            <a:br>
              <a:rPr lang="en-US" dirty="0"/>
            </a:br>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29</a:t>
            </a:fld>
            <a:endParaRPr lang="en-US" dirty="0"/>
          </a:p>
        </p:txBody>
      </p:sp>
      <p:sp>
        <p:nvSpPr>
          <p:cNvPr id="4" name="Footer Placeholder 3">
            <a:extLst>
              <a:ext uri="{FF2B5EF4-FFF2-40B4-BE49-F238E27FC236}">
                <a16:creationId xmlns:a16="http://schemas.microsoft.com/office/drawing/2014/main" id="{585854BD-8F92-BC4B-040D-A9EE7A63A347}"/>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488969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09A2BC5-7010-C847-73BF-3EBC21CE2FEF}"/>
              </a:ext>
            </a:extLst>
          </p:cNvPr>
          <p:cNvSpPr>
            <a:spLocks noGrp="1"/>
          </p:cNvSpPr>
          <p:nvPr>
            <p:ph type="title"/>
          </p:nvPr>
        </p:nvSpPr>
        <p:spPr/>
        <p:txBody>
          <a:bodyPr/>
          <a:lstStyle/>
          <a:p>
            <a:r>
              <a:rPr lang="en-US" dirty="0"/>
              <a:t>Project</a:t>
            </a:r>
          </a:p>
        </p:txBody>
      </p:sp>
      <p:sp>
        <p:nvSpPr>
          <p:cNvPr id="8" name="Text Placeholder 7">
            <a:extLst>
              <a:ext uri="{FF2B5EF4-FFF2-40B4-BE49-F238E27FC236}">
                <a16:creationId xmlns:a16="http://schemas.microsoft.com/office/drawing/2014/main" id="{E3BF4FC0-47BA-7B3E-EFEE-8B3A0FC9228B}"/>
              </a:ext>
            </a:extLst>
          </p:cNvPr>
          <p:cNvSpPr>
            <a:spLocks noGrp="1"/>
          </p:cNvSpPr>
          <p:nvPr>
            <p:ph type="body" idx="1"/>
          </p:nvPr>
        </p:nvSpPr>
        <p:spPr/>
        <p:txBody>
          <a:bodyPr/>
          <a:lstStyle/>
          <a:p>
            <a:endParaRPr lang="en-US"/>
          </a:p>
        </p:txBody>
      </p:sp>
      <p:sp>
        <p:nvSpPr>
          <p:cNvPr id="5" name="Footer Placeholder 4">
            <a:extLst>
              <a:ext uri="{FF2B5EF4-FFF2-40B4-BE49-F238E27FC236}">
                <a16:creationId xmlns:a16="http://schemas.microsoft.com/office/drawing/2014/main" id="{EC61670F-E508-EF12-C8F4-DFF2C70E7EB5}"/>
              </a:ext>
            </a:extLst>
          </p:cNvPr>
          <p:cNvSpPr>
            <a:spLocks noGrp="1"/>
          </p:cNvSpPr>
          <p:nvPr>
            <p:ph type="ftr" sz="quarter" idx="11"/>
          </p:nvPr>
        </p:nvSpPr>
        <p:spPr/>
        <p:txBody>
          <a:bodyPr/>
          <a:lstStyle/>
          <a:p>
            <a:r>
              <a:rPr lang="en-US"/>
              <a:t>© 2026 Vishal Lala</a:t>
            </a:r>
          </a:p>
        </p:txBody>
      </p:sp>
      <p:sp>
        <p:nvSpPr>
          <p:cNvPr id="6" name="Slide Number Placeholder 5">
            <a:extLst>
              <a:ext uri="{FF2B5EF4-FFF2-40B4-BE49-F238E27FC236}">
                <a16:creationId xmlns:a16="http://schemas.microsoft.com/office/drawing/2014/main" id="{39A6D17F-4B58-7308-B05E-2D4F63423C52}"/>
              </a:ext>
            </a:extLst>
          </p:cNvPr>
          <p:cNvSpPr>
            <a:spLocks noGrp="1"/>
          </p:cNvSpPr>
          <p:nvPr>
            <p:ph type="sldNum" sz="quarter" idx="12"/>
          </p:nvPr>
        </p:nvSpPr>
        <p:spPr/>
        <p:txBody>
          <a:bodyPr/>
          <a:lstStyle/>
          <a:p>
            <a:fld id="{B9FD85AE-1124-49A6-8860-0DC337D80F96}" type="slidenum">
              <a:rPr lang="en-US" smtClean="0"/>
              <a:t>30</a:t>
            </a:fld>
            <a:endParaRPr lang="en-US"/>
          </a:p>
        </p:txBody>
      </p:sp>
    </p:spTree>
    <p:extLst>
      <p:ext uri="{BB962C8B-B14F-4D97-AF65-F5344CB8AC3E}">
        <p14:creationId xmlns:p14="http://schemas.microsoft.com/office/powerpoint/2010/main" val="157616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4CDE69C-0698-6133-89CB-C707C93A8BD1}"/>
              </a:ext>
            </a:extLst>
          </p:cNvPr>
          <p:cNvSpPr>
            <a:spLocks noGrp="1"/>
          </p:cNvSpPr>
          <p:nvPr>
            <p:ph type="title"/>
          </p:nvPr>
        </p:nvSpPr>
        <p:spPr/>
        <p:txBody>
          <a:bodyPr/>
          <a:lstStyle/>
          <a:p>
            <a:r>
              <a:rPr lang="en-US" dirty="0"/>
              <a:t>Project</a:t>
            </a:r>
          </a:p>
        </p:txBody>
      </p:sp>
      <p:sp>
        <p:nvSpPr>
          <p:cNvPr id="7" name="Content Placeholder 6">
            <a:extLst>
              <a:ext uri="{FF2B5EF4-FFF2-40B4-BE49-F238E27FC236}">
                <a16:creationId xmlns:a16="http://schemas.microsoft.com/office/drawing/2014/main" id="{A83B8CA3-6DEA-5E7A-9ACD-A0C2FBAC5449}"/>
              </a:ext>
            </a:extLst>
          </p:cNvPr>
          <p:cNvSpPr>
            <a:spLocks noGrp="1"/>
          </p:cNvSpPr>
          <p:nvPr>
            <p:ph idx="1"/>
          </p:nvPr>
        </p:nvSpPr>
        <p:spPr/>
        <p:txBody>
          <a:bodyPr/>
          <a:lstStyle/>
          <a:p>
            <a:r>
              <a:rPr lang="en-US" sz="2400" dirty="0"/>
              <a:t>Form a Group</a:t>
            </a:r>
          </a:p>
          <a:p>
            <a:r>
              <a:rPr lang="en-US" sz="2400" dirty="0"/>
              <a:t>Select Data</a:t>
            </a:r>
          </a:p>
          <a:p>
            <a:r>
              <a:rPr lang="en-US" sz="2400" dirty="0"/>
              <a:t>Explore and Transform Data</a:t>
            </a:r>
          </a:p>
          <a:p>
            <a:r>
              <a:rPr lang="en-US" sz="2400" dirty="0"/>
              <a:t>Share Insights</a:t>
            </a:r>
          </a:p>
          <a:p>
            <a:endParaRPr lang="en-US" dirty="0"/>
          </a:p>
        </p:txBody>
      </p:sp>
      <p:sp>
        <p:nvSpPr>
          <p:cNvPr id="4" name="Footer Placeholder 3">
            <a:extLst>
              <a:ext uri="{FF2B5EF4-FFF2-40B4-BE49-F238E27FC236}">
                <a16:creationId xmlns:a16="http://schemas.microsoft.com/office/drawing/2014/main" id="{CC587356-2715-E42F-E2FC-24A47C8CFFD2}"/>
              </a:ext>
            </a:extLst>
          </p:cNvPr>
          <p:cNvSpPr>
            <a:spLocks noGrp="1"/>
          </p:cNvSpPr>
          <p:nvPr>
            <p:ph type="ftr" sz="quarter" idx="11"/>
          </p:nvPr>
        </p:nvSpPr>
        <p:spPr/>
        <p:txBody>
          <a:bodyPr/>
          <a:lstStyle/>
          <a:p>
            <a:r>
              <a:rPr lang="en-US" dirty="0"/>
              <a:t>© 2026 Vishal Lala</a:t>
            </a:r>
          </a:p>
        </p:txBody>
      </p:sp>
      <p:sp>
        <p:nvSpPr>
          <p:cNvPr id="5" name="Slide Number Placeholder 4">
            <a:extLst>
              <a:ext uri="{FF2B5EF4-FFF2-40B4-BE49-F238E27FC236}">
                <a16:creationId xmlns:a16="http://schemas.microsoft.com/office/drawing/2014/main" id="{76DBE287-A173-2CD0-C794-4C234B299847}"/>
              </a:ext>
            </a:extLst>
          </p:cNvPr>
          <p:cNvSpPr>
            <a:spLocks noGrp="1"/>
          </p:cNvSpPr>
          <p:nvPr>
            <p:ph type="sldNum" sz="quarter" idx="12"/>
          </p:nvPr>
        </p:nvSpPr>
        <p:spPr/>
        <p:txBody>
          <a:bodyPr/>
          <a:lstStyle/>
          <a:p>
            <a:fld id="{B9FD85AE-1124-49A6-8860-0DC337D80F96}" type="slidenum">
              <a:rPr lang="en-US" smtClean="0"/>
              <a:t>31</a:t>
            </a:fld>
            <a:endParaRPr lang="en-US"/>
          </a:p>
        </p:txBody>
      </p:sp>
    </p:spTree>
    <p:extLst>
      <p:ext uri="{BB962C8B-B14F-4D97-AF65-F5344CB8AC3E}">
        <p14:creationId xmlns:p14="http://schemas.microsoft.com/office/powerpoint/2010/main" val="3660955815"/>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Crop</Template>
  <TotalTime>1598</TotalTime>
  <Words>1557</Words>
  <Application>Microsoft Office PowerPoint</Application>
  <PresentationFormat>Widescreen</PresentationFormat>
  <Paragraphs>252</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Calibri</vt:lpstr>
      <vt:lpstr>Franklin Gothic Book</vt:lpstr>
      <vt:lpstr>Crop</vt:lpstr>
      <vt:lpstr>Data Analytics</vt:lpstr>
      <vt:lpstr>Agenda</vt:lpstr>
      <vt:lpstr>Explore Data</vt:lpstr>
      <vt:lpstr>Outline</vt:lpstr>
      <vt:lpstr>Data Exploration</vt:lpstr>
      <vt:lpstr>Inspect Data</vt:lpstr>
      <vt:lpstr>Subset</vt:lpstr>
      <vt:lpstr>Edit Data</vt:lpstr>
      <vt:lpstr>Summarize</vt:lpstr>
      <vt:lpstr>Visualize</vt:lpstr>
      <vt:lpstr>Tidy Data</vt:lpstr>
      <vt:lpstr>Data Preparation</vt:lpstr>
      <vt:lpstr>Tidy Data</vt:lpstr>
      <vt:lpstr>Parsing</vt:lpstr>
      <vt:lpstr>Parsing</vt:lpstr>
      <vt:lpstr>Parsing</vt:lpstr>
      <vt:lpstr>Parsing</vt:lpstr>
      <vt:lpstr>Feature Engineering</vt:lpstr>
      <vt:lpstr>Feature Engineering For Categorical Variables</vt:lpstr>
      <vt:lpstr>Feature Engineering For Numeric Variables</vt:lpstr>
      <vt:lpstr>Restructure Data</vt:lpstr>
      <vt:lpstr>Restructure Data</vt:lpstr>
      <vt:lpstr>Joins</vt:lpstr>
      <vt:lpstr>Joins</vt:lpstr>
      <vt:lpstr>Missing Data</vt:lpstr>
      <vt:lpstr>Missing Data</vt:lpstr>
      <vt:lpstr>Missing Data Solutions</vt:lpstr>
      <vt:lpstr>Missing Data Solutions</vt:lpstr>
      <vt:lpstr>Missing Data Solutions</vt:lpstr>
      <vt:lpstr>Project</vt:lpstr>
      <vt:lpstr>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R</dc:title>
  <dc:creator>Lala, Dr. Vishal</dc:creator>
  <cp:lastModifiedBy>Vishal Lala</cp:lastModifiedBy>
  <cp:revision>45</cp:revision>
  <dcterms:created xsi:type="dcterms:W3CDTF">2019-09-20T19:58:07Z</dcterms:created>
  <dcterms:modified xsi:type="dcterms:W3CDTF">2026-06-30T02:07:31Z</dcterms:modified>
</cp:coreProperties>
</file>
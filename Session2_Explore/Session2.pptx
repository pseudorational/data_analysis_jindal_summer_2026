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4" r:id="rId3"/>
  </p:sldMasterIdLst>
  <p:notesMasterIdLst>
    <p:notesMasterId r:id="rId54"/>
  </p:notesMasterIdLst>
  <p:sldIdLst>
    <p:sldId id="431" r:id="rId4"/>
    <p:sldId id="432" r:id="rId5"/>
    <p:sldId id="547" r:id="rId6"/>
    <p:sldId id="548" r:id="rId7"/>
    <p:sldId id="549" r:id="rId8"/>
    <p:sldId id="550" r:id="rId9"/>
    <p:sldId id="329" r:id="rId10"/>
    <p:sldId id="326" r:id="rId11"/>
    <p:sldId id="327" r:id="rId12"/>
    <p:sldId id="328" r:id="rId13"/>
    <p:sldId id="331" r:id="rId14"/>
    <p:sldId id="332" r:id="rId15"/>
    <p:sldId id="333" r:id="rId16"/>
    <p:sldId id="335" r:id="rId17"/>
    <p:sldId id="334" r:id="rId18"/>
    <p:sldId id="336" r:id="rId19"/>
    <p:sldId id="337" r:id="rId20"/>
    <p:sldId id="551" r:id="rId21"/>
    <p:sldId id="552" r:id="rId22"/>
    <p:sldId id="338" r:id="rId23"/>
    <p:sldId id="553" r:id="rId24"/>
    <p:sldId id="339" r:id="rId25"/>
    <p:sldId id="340" r:id="rId26"/>
    <p:sldId id="349" r:id="rId27"/>
    <p:sldId id="350" r:id="rId28"/>
    <p:sldId id="341" r:id="rId29"/>
    <p:sldId id="362" r:id="rId30"/>
    <p:sldId id="554" r:id="rId31"/>
    <p:sldId id="373" r:id="rId32"/>
    <p:sldId id="343" r:id="rId33"/>
    <p:sldId id="344" r:id="rId34"/>
    <p:sldId id="363" r:id="rId35"/>
    <p:sldId id="364" r:id="rId36"/>
    <p:sldId id="355" r:id="rId37"/>
    <p:sldId id="351" r:id="rId38"/>
    <p:sldId id="356" r:id="rId39"/>
    <p:sldId id="352" r:id="rId40"/>
    <p:sldId id="357" r:id="rId41"/>
    <p:sldId id="358" r:id="rId42"/>
    <p:sldId id="346" r:id="rId43"/>
    <p:sldId id="359" r:id="rId44"/>
    <p:sldId id="360" r:id="rId45"/>
    <p:sldId id="370" r:id="rId46"/>
    <p:sldId id="371" r:id="rId47"/>
    <p:sldId id="353" r:id="rId48"/>
    <p:sldId id="555" r:id="rId49"/>
    <p:sldId id="361" r:id="rId50"/>
    <p:sldId id="372" r:id="rId51"/>
    <p:sldId id="442" r:id="rId52"/>
    <p:sldId id="443" r:id="rId5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2" d="100"/>
          <a:sy n="112" d="100"/>
        </p:scale>
        <p:origin x="49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tableStyles" Target="tableStyles.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viewProps" Target="viewProp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theme" Target="theme/theme1.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F9CF86-1644-48B0-BC70-35EF44D95368}" type="datetimeFigureOut">
              <a:rPr lang="en-US" smtClean="0"/>
              <a:t>6/29/2026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231A82-ADDE-4A35-950F-B3A37523C19C}" type="slidenum">
              <a:rPr lang="en-US" smtClean="0"/>
              <a:t>‹#›</a:t>
            </a:fld>
            <a:endParaRPr lang="en-US"/>
          </a:p>
        </p:txBody>
      </p:sp>
    </p:spTree>
    <p:extLst>
      <p:ext uri="{BB962C8B-B14F-4D97-AF65-F5344CB8AC3E}">
        <p14:creationId xmlns:p14="http://schemas.microsoft.com/office/powerpoint/2010/main" val="2004657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Created from Claude</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E1F45F7-759F-4FCA-A539-B06BF2F021B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61336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Created from Claude</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E1F45F7-759F-4FCA-A539-B06BF2F021B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694256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E1F45F7-759F-4FCA-A539-B06BF2F021B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662402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 pandas as pd</a:t>
            </a:r>
          </a:p>
          <a:p>
            <a:r>
              <a:rPr lang="en-US" dirty="0" err="1"/>
              <a:t>pd.DataFrame</a:t>
            </a:r>
            <a:r>
              <a:rPr lang="en-US" dirty="0"/>
              <a:t>(</a:t>
            </a:r>
            <a:r>
              <a:rPr lang="en-US" dirty="0" err="1"/>
              <a:t>np.random.randint</a:t>
            </a:r>
            <a:r>
              <a:rPr lang="en-US" dirty="0"/>
              <a:t>(0,9,100).reshape(10,10))</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E1F45F7-759F-4FCA-A539-B06BF2F021B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457389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EE01D72C-24CF-4D8F-9B1C-7D5A76D349B9}" type="datetime1">
              <a:rPr lang="en-US" smtClean="0"/>
              <a:t>6/29/2026</a:t>
            </a:fld>
            <a:endParaRPr lang="en-US"/>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r>
              <a:rPr lang="en-US"/>
              <a:t>© 2026 Vishal Lala</a:t>
            </a:r>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B9FD85AE-1124-49A6-8860-0DC337D80F96}" type="slidenum">
              <a:rPr lang="en-US" smtClean="0"/>
              <a:t>‹#›</a:t>
            </a:fld>
            <a:endParaRPr lang="en-US"/>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en-US"/>
            </a:p>
          </p:txBody>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en-US"/>
            </a:p>
          </p:txBody>
        </p:sp>
      </p:grpSp>
    </p:spTree>
    <p:extLst>
      <p:ext uri="{BB962C8B-B14F-4D97-AF65-F5344CB8AC3E}">
        <p14:creationId xmlns:p14="http://schemas.microsoft.com/office/powerpoint/2010/main" val="307474724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AAD0A5-9723-4B8A-9276-5ED80F3E7545}" type="datetime1">
              <a:rPr lang="en-US" smtClean="0"/>
              <a:t>6/29/2026</a:t>
            </a:fld>
            <a:endParaRPr lang="en-US"/>
          </a:p>
        </p:txBody>
      </p:sp>
      <p:sp>
        <p:nvSpPr>
          <p:cNvPr id="5" name="Footer Placeholder 4"/>
          <p:cNvSpPr>
            <a:spLocks noGrp="1"/>
          </p:cNvSpPr>
          <p:nvPr>
            <p:ph type="ftr" sz="quarter" idx="11"/>
          </p:nvPr>
        </p:nvSpPr>
        <p:spPr/>
        <p:txBody>
          <a:bodyPr/>
          <a:lstStyle/>
          <a:p>
            <a:r>
              <a:rPr lang="en-US"/>
              <a:t>© 2026 Vishal Lala</a:t>
            </a:r>
          </a:p>
        </p:txBody>
      </p:sp>
      <p:sp>
        <p:nvSpPr>
          <p:cNvPr id="6" name="Slide Number Placeholder 5"/>
          <p:cNvSpPr>
            <a:spLocks noGrp="1"/>
          </p:cNvSpPr>
          <p:nvPr>
            <p:ph type="sldNum" sz="quarter" idx="12"/>
          </p:nvPr>
        </p:nvSpPr>
        <p:spPr/>
        <p:txBody>
          <a:bodyPr/>
          <a:lstStyle/>
          <a:p>
            <a:fld id="{B9FD85AE-1124-49A6-8860-0DC337D80F96}" type="slidenum">
              <a:rPr lang="en-US" smtClean="0"/>
              <a:t>‹#›</a:t>
            </a:fld>
            <a:endParaRPr lang="en-US"/>
          </a:p>
        </p:txBody>
      </p:sp>
    </p:spTree>
    <p:extLst>
      <p:ext uri="{BB962C8B-B14F-4D97-AF65-F5344CB8AC3E}">
        <p14:creationId xmlns:p14="http://schemas.microsoft.com/office/powerpoint/2010/main" val="13209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ADDCC147-27E0-43FB-AC2A-2379603FEFBF}" type="datetime1">
              <a:rPr lang="en-US" smtClean="0"/>
              <a:t>6/29/2026</a:t>
            </a:fld>
            <a:endParaRPr 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r>
              <a:rPr lang="en-US"/>
              <a:t>© 2026 Vishal Lala</a:t>
            </a:r>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B9FD85AE-1124-49A6-8860-0DC337D80F96}" type="slidenum">
              <a:rPr lang="en-US" smtClean="0"/>
              <a:t>‹#›</a:t>
            </a:fld>
            <a:endParaRPr lang="en-US"/>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111957757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00DB99D-BE07-4C5E-96BC-4C98397E508B}" type="datetime1">
              <a:rPr lang="en-US" smtClean="0"/>
              <a:t>6/29/2026</a:t>
            </a:fld>
            <a:endParaRPr lang="en-US"/>
          </a:p>
        </p:txBody>
      </p:sp>
      <p:sp>
        <p:nvSpPr>
          <p:cNvPr id="6" name="Footer Placeholder 5"/>
          <p:cNvSpPr>
            <a:spLocks noGrp="1"/>
          </p:cNvSpPr>
          <p:nvPr>
            <p:ph type="ftr" sz="quarter" idx="11"/>
          </p:nvPr>
        </p:nvSpPr>
        <p:spPr/>
        <p:txBody>
          <a:bodyPr/>
          <a:lstStyle/>
          <a:p>
            <a:r>
              <a:rPr lang="en-US"/>
              <a:t>© 2026 Vishal Lala</a:t>
            </a:r>
          </a:p>
        </p:txBody>
      </p:sp>
      <p:sp>
        <p:nvSpPr>
          <p:cNvPr id="7" name="Slide Number Placeholder 6"/>
          <p:cNvSpPr>
            <a:spLocks noGrp="1"/>
          </p:cNvSpPr>
          <p:nvPr>
            <p:ph type="sldNum" sz="quarter" idx="12"/>
          </p:nvPr>
        </p:nvSpPr>
        <p:spPr/>
        <p:txBody>
          <a:bodyPr/>
          <a:lstStyle/>
          <a:p>
            <a:fld id="{B9FD85AE-1124-49A6-8860-0DC337D80F96}" type="slidenum">
              <a:rPr lang="en-US" smtClean="0"/>
              <a:t>‹#›</a:t>
            </a:fld>
            <a:endParaRPr lang="en-US"/>
          </a:p>
        </p:txBody>
      </p:sp>
    </p:spTree>
    <p:extLst>
      <p:ext uri="{BB962C8B-B14F-4D97-AF65-F5344CB8AC3E}">
        <p14:creationId xmlns:p14="http://schemas.microsoft.com/office/powerpoint/2010/main" val="32365368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72A5F2C-B548-4BCA-80FF-18A8A089314F}" type="datetime1">
              <a:rPr lang="en-US" smtClean="0"/>
              <a:t>6/29/2026</a:t>
            </a:fld>
            <a:endParaRPr lang="en-US"/>
          </a:p>
        </p:txBody>
      </p:sp>
      <p:sp>
        <p:nvSpPr>
          <p:cNvPr id="8" name="Footer Placeholder 7"/>
          <p:cNvSpPr>
            <a:spLocks noGrp="1"/>
          </p:cNvSpPr>
          <p:nvPr>
            <p:ph type="ftr" sz="quarter" idx="11"/>
          </p:nvPr>
        </p:nvSpPr>
        <p:spPr/>
        <p:txBody>
          <a:bodyPr/>
          <a:lstStyle/>
          <a:p>
            <a:r>
              <a:rPr lang="en-US"/>
              <a:t>© 2026 Vishal Lala</a:t>
            </a:r>
          </a:p>
        </p:txBody>
      </p:sp>
      <p:sp>
        <p:nvSpPr>
          <p:cNvPr id="9" name="Slide Number Placeholder 8"/>
          <p:cNvSpPr>
            <a:spLocks noGrp="1"/>
          </p:cNvSpPr>
          <p:nvPr>
            <p:ph type="sldNum" sz="quarter" idx="12"/>
          </p:nvPr>
        </p:nvSpPr>
        <p:spPr/>
        <p:txBody>
          <a:bodyPr/>
          <a:lstStyle/>
          <a:p>
            <a:fld id="{B9FD85AE-1124-49A6-8860-0DC337D80F96}" type="slidenum">
              <a:rPr lang="en-US" smtClean="0"/>
              <a:t>‹#›</a:t>
            </a:fld>
            <a:endParaRPr lang="en-US"/>
          </a:p>
        </p:txBody>
      </p:sp>
    </p:spTree>
    <p:extLst>
      <p:ext uri="{BB962C8B-B14F-4D97-AF65-F5344CB8AC3E}">
        <p14:creationId xmlns:p14="http://schemas.microsoft.com/office/powerpoint/2010/main" val="193739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9E66F2F-370B-40BF-9534-4E3538D2579A}" type="datetime1">
              <a:rPr lang="en-US" smtClean="0"/>
              <a:t>6/29/2026</a:t>
            </a:fld>
            <a:endParaRPr lang="en-US"/>
          </a:p>
        </p:txBody>
      </p:sp>
      <p:sp>
        <p:nvSpPr>
          <p:cNvPr id="4" name="Footer Placeholder 3"/>
          <p:cNvSpPr>
            <a:spLocks noGrp="1"/>
          </p:cNvSpPr>
          <p:nvPr>
            <p:ph type="ftr" sz="quarter" idx="11"/>
          </p:nvPr>
        </p:nvSpPr>
        <p:spPr/>
        <p:txBody>
          <a:bodyPr/>
          <a:lstStyle/>
          <a:p>
            <a:r>
              <a:rPr lang="en-US"/>
              <a:t>© 2026 Vishal Lala</a:t>
            </a:r>
          </a:p>
        </p:txBody>
      </p:sp>
      <p:sp>
        <p:nvSpPr>
          <p:cNvPr id="5" name="Slide Number Placeholder 4"/>
          <p:cNvSpPr>
            <a:spLocks noGrp="1"/>
          </p:cNvSpPr>
          <p:nvPr>
            <p:ph type="sldNum" sz="quarter" idx="12"/>
          </p:nvPr>
        </p:nvSpPr>
        <p:spPr/>
        <p:txBody>
          <a:bodyPr/>
          <a:lstStyle/>
          <a:p>
            <a:fld id="{B9FD85AE-1124-49A6-8860-0DC337D80F96}" type="slidenum">
              <a:rPr lang="en-US" smtClean="0"/>
              <a:t>‹#›</a:t>
            </a:fld>
            <a:endParaRPr lang="en-US"/>
          </a:p>
        </p:txBody>
      </p:sp>
    </p:spTree>
    <p:extLst>
      <p:ext uri="{BB962C8B-B14F-4D97-AF65-F5344CB8AC3E}">
        <p14:creationId xmlns:p14="http://schemas.microsoft.com/office/powerpoint/2010/main" val="908750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007A27-DDC3-430B-B6C4-187EEED36F1A}" type="datetime1">
              <a:rPr lang="en-US" smtClean="0"/>
              <a:t>6/29/2026</a:t>
            </a:fld>
            <a:endParaRPr lang="en-US"/>
          </a:p>
        </p:txBody>
      </p:sp>
      <p:sp>
        <p:nvSpPr>
          <p:cNvPr id="3" name="Footer Placeholder 2"/>
          <p:cNvSpPr>
            <a:spLocks noGrp="1"/>
          </p:cNvSpPr>
          <p:nvPr>
            <p:ph type="ftr" sz="quarter" idx="11"/>
          </p:nvPr>
        </p:nvSpPr>
        <p:spPr/>
        <p:txBody>
          <a:bodyPr/>
          <a:lstStyle/>
          <a:p>
            <a:r>
              <a:rPr lang="en-US"/>
              <a:t>© 2026 Vishal Lala</a:t>
            </a:r>
          </a:p>
        </p:txBody>
      </p:sp>
      <p:sp>
        <p:nvSpPr>
          <p:cNvPr id="4" name="Slide Number Placeholder 3"/>
          <p:cNvSpPr>
            <a:spLocks noGrp="1"/>
          </p:cNvSpPr>
          <p:nvPr>
            <p:ph type="sldNum" sz="quarter" idx="12"/>
          </p:nvPr>
        </p:nvSpPr>
        <p:spPr/>
        <p:txBody>
          <a:bodyPr/>
          <a:lstStyle/>
          <a:p>
            <a:fld id="{B9FD85AE-1124-49A6-8860-0DC337D80F96}" type="slidenum">
              <a:rPr lang="en-US" smtClean="0"/>
              <a:t>‹#›</a:t>
            </a:fld>
            <a:endParaRPr lang="en-US"/>
          </a:p>
        </p:txBody>
      </p:sp>
    </p:spTree>
    <p:extLst>
      <p:ext uri="{BB962C8B-B14F-4D97-AF65-F5344CB8AC3E}">
        <p14:creationId xmlns:p14="http://schemas.microsoft.com/office/powerpoint/2010/main" val="11814538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AD43E43C-6F29-447F-9822-DD6F7A403DD3}" type="datetime1">
              <a:rPr lang="en-US" smtClean="0"/>
              <a:t>6/29/2026</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r>
              <a:rPr lang="en-US"/>
              <a:t>© 2026 Vishal Lala</a:t>
            </a: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B9FD85AE-1124-49A6-8860-0DC337D80F96}"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7127147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536473AA-D19D-4FF5-86F0-DCC5A01D354B}" type="datetime1">
              <a:rPr lang="en-US" smtClean="0"/>
              <a:t>6/29/2026</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r>
              <a:rPr lang="en-US"/>
              <a:t>© 2026 Vishal Lala</a:t>
            </a: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B9FD85AE-1124-49A6-8860-0DC337D80F96}"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1980875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F260B7-F2B2-4BBC-B46D-0F750BEE965B}" type="datetime1">
              <a:rPr lang="en-US" smtClean="0"/>
              <a:t>6/29/2026</a:t>
            </a:fld>
            <a:endParaRPr lang="en-US"/>
          </a:p>
        </p:txBody>
      </p:sp>
      <p:sp>
        <p:nvSpPr>
          <p:cNvPr id="5" name="Footer Placeholder 4"/>
          <p:cNvSpPr>
            <a:spLocks noGrp="1"/>
          </p:cNvSpPr>
          <p:nvPr>
            <p:ph type="ftr" sz="quarter" idx="11"/>
          </p:nvPr>
        </p:nvSpPr>
        <p:spPr/>
        <p:txBody>
          <a:bodyPr/>
          <a:lstStyle/>
          <a:p>
            <a:r>
              <a:rPr lang="en-US"/>
              <a:t>© 2026 Vishal Lala</a:t>
            </a:r>
          </a:p>
        </p:txBody>
      </p:sp>
      <p:sp>
        <p:nvSpPr>
          <p:cNvPr id="6" name="Slide Number Placeholder 5"/>
          <p:cNvSpPr>
            <a:spLocks noGrp="1"/>
          </p:cNvSpPr>
          <p:nvPr>
            <p:ph type="sldNum" sz="quarter" idx="12"/>
          </p:nvPr>
        </p:nvSpPr>
        <p:spPr/>
        <p:txBody>
          <a:bodyPr/>
          <a:lstStyle/>
          <a:p>
            <a:fld id="{B9FD85AE-1124-49A6-8860-0DC337D80F96}" type="slidenum">
              <a:rPr lang="en-US" smtClean="0"/>
              <a:t>‹#›</a:t>
            </a:fld>
            <a:endParaRPr lang="en-US"/>
          </a:p>
        </p:txBody>
      </p:sp>
    </p:spTree>
    <p:extLst>
      <p:ext uri="{BB962C8B-B14F-4D97-AF65-F5344CB8AC3E}">
        <p14:creationId xmlns:p14="http://schemas.microsoft.com/office/powerpoint/2010/main" val="23414221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29BD42-5E39-4E91-8F1D-BC3DC25E2256}" type="datetime1">
              <a:rPr lang="en-US" smtClean="0"/>
              <a:t>6/29/2026</a:t>
            </a:fld>
            <a:endParaRPr lang="en-US"/>
          </a:p>
        </p:txBody>
      </p:sp>
      <p:sp>
        <p:nvSpPr>
          <p:cNvPr id="5" name="Footer Placeholder 4"/>
          <p:cNvSpPr>
            <a:spLocks noGrp="1"/>
          </p:cNvSpPr>
          <p:nvPr>
            <p:ph type="ftr" sz="quarter" idx="11"/>
          </p:nvPr>
        </p:nvSpPr>
        <p:spPr/>
        <p:txBody>
          <a:bodyPr/>
          <a:lstStyle/>
          <a:p>
            <a:r>
              <a:rPr lang="en-US"/>
              <a:t>© 2026 Vishal Lala</a:t>
            </a:r>
          </a:p>
        </p:txBody>
      </p:sp>
      <p:sp>
        <p:nvSpPr>
          <p:cNvPr id="6" name="Slide Number Placeholder 5"/>
          <p:cNvSpPr>
            <a:spLocks noGrp="1"/>
          </p:cNvSpPr>
          <p:nvPr>
            <p:ph type="sldNum" sz="quarter" idx="12"/>
          </p:nvPr>
        </p:nvSpPr>
        <p:spPr/>
        <p:txBody>
          <a:bodyPr/>
          <a:lstStyle/>
          <a:p>
            <a:fld id="{B9FD85AE-1124-49A6-8860-0DC337D80F96}" type="slidenum">
              <a:rPr lang="en-US" smtClean="0"/>
              <a:t>‹#›</a:t>
            </a:fld>
            <a:endParaRPr lang="en-US"/>
          </a:p>
        </p:txBody>
      </p:sp>
    </p:spTree>
    <p:extLst>
      <p:ext uri="{BB962C8B-B14F-4D97-AF65-F5344CB8AC3E}">
        <p14:creationId xmlns:p14="http://schemas.microsoft.com/office/powerpoint/2010/main" val="24117314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p:cNvSpPr>
            <a:spLocks noGrp="1"/>
          </p:cNvSpPr>
          <p:nvPr>
            <p:ph type="ftr" sz="quarter" idx="11"/>
          </p:nvPr>
        </p:nvSpPr>
        <p:spPr>
          <a:xfrm>
            <a:off x="6954317" y="6371184"/>
            <a:ext cx="4973915" cy="309201"/>
          </a:xfrm>
        </p:spPr>
        <p:txBody>
          <a:bodyPr/>
          <a:lstStyle>
            <a:lvl1pPr algn="r">
              <a:defRPr b="1">
                <a:solidFill>
                  <a:schemeClr val="tx1"/>
                </a:solidFill>
              </a:defRPr>
            </a:lvl1pPr>
          </a:lstStyle>
          <a:p>
            <a:r>
              <a:rPr lang="en-US" dirty="0"/>
              <a:t>© 2025 Vishal Lala</a:t>
            </a:r>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183901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51579" y="684876"/>
            <a:ext cx="9603275" cy="964460"/>
          </a:xfrm>
        </p:spPr>
        <p:txBody>
          <a:bodyPr/>
          <a:lstStyle/>
          <a:p>
            <a:r>
              <a:rPr lang="en-US" dirty="0"/>
              <a:t>Click to edit Master title style</a:t>
            </a:r>
          </a:p>
        </p:txBody>
      </p:sp>
      <p:sp>
        <p:nvSpPr>
          <p:cNvPr id="3" name="Content Placeholder 2"/>
          <p:cNvSpPr>
            <a:spLocks noGrp="1"/>
          </p:cNvSpPr>
          <p:nvPr>
            <p:ph idx="1"/>
          </p:nvPr>
        </p:nvSpPr>
        <p:spPr>
          <a:xfrm>
            <a:off x="1451579" y="2015732"/>
            <a:ext cx="9603275" cy="3923595"/>
          </a:xfrm>
        </p:spPr>
        <p:txBody>
          <a:bodyPr anchor="t"/>
          <a:lstStyle>
            <a:lvl1pPr>
              <a:defRPr sz="2800"/>
            </a:lvl1pPr>
            <a:lvl2pPr>
              <a:defRPr sz="2400"/>
            </a:lvl2pPr>
            <a:lvl3pPr>
              <a:defRPr sz="2000"/>
            </a:lvl3pPr>
            <a:lvl4pPr>
              <a:defRPr sz="18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10767700" y="6373029"/>
            <a:ext cx="1344047" cy="309201"/>
          </a:xfrm>
        </p:spPr>
        <p:txBody>
          <a:bodyPr/>
          <a:lstStyle>
            <a:lvl1pPr algn="r">
              <a:defRPr b="1">
                <a:solidFill>
                  <a:schemeClr val="tx1"/>
                </a:solidFill>
              </a:defRPr>
            </a:lvl1pPr>
          </a:lstStyle>
          <a:p>
            <a:r>
              <a:rPr lang="en-US" dirty="0"/>
              <a:t>© 2025 Vishal Lala</a:t>
            </a:r>
          </a:p>
        </p:txBody>
      </p:sp>
      <p:sp>
        <p:nvSpPr>
          <p:cNvPr id="6" name="Slide Number Placeholder 5"/>
          <p:cNvSpPr>
            <a:spLocks noGrp="1"/>
          </p:cNvSpPr>
          <p:nvPr>
            <p:ph type="sldNum" sz="quarter" idx="12"/>
          </p:nvPr>
        </p:nvSpPr>
        <p:spPr>
          <a:xfrm>
            <a:off x="80253" y="6236064"/>
            <a:ext cx="811019" cy="503578"/>
          </a:xfrm>
        </p:spPr>
        <p:txBody>
          <a:bodyPr/>
          <a:lstStyle>
            <a:lvl1pPr>
              <a:defRPr sz="2400">
                <a:solidFill>
                  <a:schemeClr val="tx1"/>
                </a:solidFill>
              </a:defRPr>
            </a:lvl1pPr>
          </a:lstStyle>
          <a:p>
            <a:fld id="{D9C5D737-E2F4-4032-9B49-A81173D391B8}" type="slidenum">
              <a:rPr lang="en-US" smtClean="0"/>
              <a:pPr/>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558787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a:xfrm>
            <a:off x="10613876" y="6448095"/>
            <a:ext cx="1420959" cy="309201"/>
          </a:xfrm>
        </p:spPr>
        <p:txBody>
          <a:bodyPr/>
          <a:lstStyle>
            <a:lvl1pPr algn="r">
              <a:defRPr b="1">
                <a:solidFill>
                  <a:schemeClr val="tx1"/>
                </a:solidFill>
              </a:defRPr>
            </a:lvl1pPr>
          </a:lstStyle>
          <a:p>
            <a:r>
              <a:rPr lang="en-US" dirty="0"/>
              <a:t>© 2025 Vishal Lala</a:t>
            </a:r>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164691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a:xfrm>
            <a:off x="10639512" y="6373029"/>
            <a:ext cx="1408897" cy="309201"/>
          </a:xfrm>
        </p:spPr>
        <p:txBody>
          <a:bodyPr/>
          <a:lstStyle>
            <a:lvl1pPr>
              <a:defRPr b="1">
                <a:solidFill>
                  <a:schemeClr val="tx1"/>
                </a:solidFill>
              </a:defRPr>
            </a:lvl1pPr>
          </a:lstStyle>
          <a:p>
            <a:r>
              <a:rPr lang="en-US" dirty="0"/>
              <a:t>© 2025 Vishal Lala</a:t>
            </a:r>
          </a:p>
        </p:txBody>
      </p:sp>
      <p:sp>
        <p:nvSpPr>
          <p:cNvPr id="7" name="Slide Number Placeholder 6"/>
          <p:cNvSpPr>
            <a:spLocks noGrp="1"/>
          </p:cNvSpPr>
          <p:nvPr>
            <p:ph type="sldNum" sz="quarter" idx="12"/>
          </p:nvPr>
        </p:nvSpPr>
        <p:spPr>
          <a:xfrm>
            <a:off x="326235" y="6178652"/>
            <a:ext cx="811019" cy="503578"/>
          </a:xfrm>
        </p:spPr>
        <p:txBody>
          <a:bodyPr/>
          <a:lstStyle>
            <a:lvl1pPr>
              <a:defRPr sz="2400"/>
            </a:lvl1pPr>
          </a:lstStyle>
          <a:p>
            <a:fld id="{D9C5D737-E2F4-4032-9B49-A81173D391B8}" type="slidenum">
              <a:rPr lang="en-US" smtClean="0"/>
              <a:pPr/>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575080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a:t>© 2025 Vishal Lala</a:t>
            </a:r>
          </a:p>
        </p:txBody>
      </p:sp>
      <p:sp>
        <p:nvSpPr>
          <p:cNvPr id="9" name="Slide Number Placeholder 8"/>
          <p:cNvSpPr>
            <a:spLocks noGrp="1"/>
          </p:cNvSpPr>
          <p:nvPr>
            <p:ph type="sldNum" sz="quarter" idx="12"/>
          </p:nvPr>
        </p:nvSpPr>
        <p:spPr>
          <a:xfrm>
            <a:off x="138228" y="6217006"/>
            <a:ext cx="811019" cy="503578"/>
          </a:xfrm>
        </p:spPr>
        <p:txBody>
          <a:bodyPr/>
          <a:lstStyle>
            <a:lvl1pPr>
              <a:defRPr sz="2400">
                <a:solidFill>
                  <a:schemeClr val="tx1"/>
                </a:solidFill>
              </a:defRPr>
            </a:lvl1pPr>
          </a:lstStyle>
          <a:p>
            <a:fld id="{D9C5D737-E2F4-4032-9B49-A81173D391B8}" type="slidenum">
              <a:rPr lang="en-US" smtClean="0"/>
              <a:pPr/>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572562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a:xfrm>
            <a:off x="10366048" y="6373029"/>
            <a:ext cx="1579275" cy="309201"/>
          </a:xfrm>
        </p:spPr>
        <p:txBody>
          <a:bodyPr/>
          <a:lstStyle>
            <a:lvl1pPr>
              <a:defRPr b="1">
                <a:solidFill>
                  <a:schemeClr val="tx1"/>
                </a:solidFill>
              </a:defRPr>
            </a:lvl1pPr>
          </a:lstStyle>
          <a:p>
            <a:r>
              <a:rPr lang="en-US" dirty="0"/>
              <a:t>© 2025 Vishal Lala</a:t>
            </a:r>
          </a:p>
        </p:txBody>
      </p:sp>
      <p:sp>
        <p:nvSpPr>
          <p:cNvPr id="5" name="Slide Number Placeholder 4"/>
          <p:cNvSpPr>
            <a:spLocks noGrp="1"/>
          </p:cNvSpPr>
          <p:nvPr>
            <p:ph type="sldNum" sz="quarter" idx="12"/>
          </p:nvPr>
        </p:nvSpPr>
        <p:spPr>
          <a:xfrm>
            <a:off x="326235" y="6217007"/>
            <a:ext cx="811019" cy="503578"/>
          </a:xfrm>
        </p:spPr>
        <p:txBody>
          <a:bodyPr/>
          <a:lstStyle>
            <a:lvl1pPr>
              <a:defRPr sz="2400">
                <a:solidFill>
                  <a:schemeClr val="tx1"/>
                </a:solidFill>
              </a:defRPr>
            </a:lvl1pPr>
          </a:lstStyle>
          <a:p>
            <a:fld id="{D9C5D737-E2F4-4032-9B49-A81173D391B8}" type="slidenum">
              <a:rPr lang="en-US" smtClean="0"/>
              <a:pPr/>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564260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 2025 Vishal Lala</a:t>
            </a:r>
          </a:p>
        </p:txBody>
      </p:sp>
      <p:sp>
        <p:nvSpPr>
          <p:cNvPr id="4" name="Slide Number Placeholder 3"/>
          <p:cNvSpPr>
            <a:spLocks noGrp="1"/>
          </p:cNvSpPr>
          <p:nvPr>
            <p:ph type="sldNum" sz="quarter" idx="12"/>
          </p:nvPr>
        </p:nvSpPr>
        <p:spPr/>
        <p:txBody>
          <a:bodyPr/>
          <a:lstStyle/>
          <a:p>
            <a:fld id="{D9C5D737-E2F4-4032-9B49-A81173D391B8}" type="slidenum">
              <a:rPr lang="en-US" smtClean="0"/>
              <a:t>‹#›</a:t>
            </a:fld>
            <a:endParaRPr lang="en-US"/>
          </a:p>
        </p:txBody>
      </p:sp>
    </p:spTree>
    <p:extLst>
      <p:ext uri="{BB962C8B-B14F-4D97-AF65-F5344CB8AC3E}">
        <p14:creationId xmlns:p14="http://schemas.microsoft.com/office/powerpoint/2010/main" val="24457629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 2025 Vishal Lala</a:t>
            </a:r>
          </a:p>
        </p:txBody>
      </p:sp>
      <p:sp>
        <p:nvSpPr>
          <p:cNvPr id="7" name="Slide Number Placeholder 6"/>
          <p:cNvSpPr>
            <a:spLocks noGrp="1"/>
          </p:cNvSpPr>
          <p:nvPr>
            <p:ph type="sldNum" sz="quarter" idx="12"/>
          </p:nvPr>
        </p:nvSpPr>
        <p:spPr/>
        <p:txBody>
          <a:bodyPr/>
          <a:lstStyle/>
          <a:p>
            <a:fld id="{D9C5D737-E2F4-4032-9B49-A81173D391B8}"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711506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endParaRPr lang="en-US"/>
          </a:p>
        </p:txBody>
      </p:sp>
      <p:sp>
        <p:nvSpPr>
          <p:cNvPr id="6" name="Footer Placeholder 5"/>
          <p:cNvSpPr>
            <a:spLocks noGrp="1"/>
          </p:cNvSpPr>
          <p:nvPr>
            <p:ph type="ftr" sz="quarter" idx="11"/>
          </p:nvPr>
        </p:nvSpPr>
        <p:spPr>
          <a:xfrm>
            <a:off x="1447382" y="318640"/>
            <a:ext cx="5541004" cy="320931"/>
          </a:xfrm>
        </p:spPr>
        <p:txBody>
          <a:bodyPr/>
          <a:lstStyle/>
          <a:p>
            <a:r>
              <a:rPr lang="en-US"/>
              <a:t>© 2025 Vishal Lala</a:t>
            </a:r>
          </a:p>
        </p:txBody>
      </p:sp>
      <p:sp>
        <p:nvSpPr>
          <p:cNvPr id="7" name="Slide Number Placeholder 6"/>
          <p:cNvSpPr>
            <a:spLocks noGrp="1"/>
          </p:cNvSpPr>
          <p:nvPr>
            <p:ph type="sldNum" sz="quarter" idx="12"/>
          </p:nvPr>
        </p:nvSpPr>
        <p:spPr/>
        <p:txBody>
          <a:bodyPr/>
          <a:lstStyle/>
          <a:p>
            <a:fld id="{D9C5D737-E2F4-4032-9B49-A81173D391B8}"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919297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 2025 Vishal Lala</a:t>
            </a:r>
          </a:p>
        </p:txBody>
      </p:sp>
      <p:sp>
        <p:nvSpPr>
          <p:cNvPr id="6" name="Slide Number Placeholder 5"/>
          <p:cNvSpPr>
            <a:spLocks noGrp="1"/>
          </p:cNvSpPr>
          <p:nvPr>
            <p:ph type="sldNum" sz="quarter" idx="12"/>
          </p:nvPr>
        </p:nvSpPr>
        <p:spPr/>
        <p:txBody>
          <a:bodyPr/>
          <a:lstStyle/>
          <a:p>
            <a:fld id="{D9C5D737-E2F4-4032-9B49-A81173D391B8}"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103190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 2025 Vishal Lala</a:t>
            </a:r>
          </a:p>
        </p:txBody>
      </p:sp>
      <p:sp>
        <p:nvSpPr>
          <p:cNvPr id="6" name="Slide Number Placeholder 5"/>
          <p:cNvSpPr>
            <a:spLocks noGrp="1"/>
          </p:cNvSpPr>
          <p:nvPr>
            <p:ph type="sldNum" sz="quarter" idx="12"/>
          </p:nvPr>
        </p:nvSpPr>
        <p:spPr/>
        <p:txBody>
          <a:bodyPr/>
          <a:lstStyle/>
          <a:p>
            <a:fld id="{D9C5D737-E2F4-4032-9B49-A81173D391B8}"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706645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p:cNvSpPr>
            <a:spLocks noGrp="1"/>
          </p:cNvSpPr>
          <p:nvPr>
            <p:ph type="ftr" sz="quarter" idx="11"/>
          </p:nvPr>
        </p:nvSpPr>
        <p:spPr>
          <a:xfrm>
            <a:off x="6954317" y="6371184"/>
            <a:ext cx="4973915" cy="309201"/>
          </a:xfrm>
        </p:spPr>
        <p:txBody>
          <a:bodyPr/>
          <a:lstStyle>
            <a:lvl1pPr algn="r">
              <a:defRPr b="1">
                <a:solidFill>
                  <a:schemeClr val="tx1"/>
                </a:solidFill>
              </a:defRPr>
            </a:lvl1pPr>
          </a:lstStyle>
          <a:p>
            <a:r>
              <a:rPr lang="en-US" dirty="0"/>
              <a:t>© 2025 Vishal Lala</a:t>
            </a:r>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351671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51579" y="684876"/>
            <a:ext cx="9603275" cy="964460"/>
          </a:xfrm>
        </p:spPr>
        <p:txBody>
          <a:bodyPr/>
          <a:lstStyle/>
          <a:p>
            <a:r>
              <a:rPr lang="en-US" dirty="0"/>
              <a:t>Click to edit Master title style</a:t>
            </a:r>
          </a:p>
        </p:txBody>
      </p:sp>
      <p:sp>
        <p:nvSpPr>
          <p:cNvPr id="3" name="Content Placeholder 2"/>
          <p:cNvSpPr>
            <a:spLocks noGrp="1"/>
          </p:cNvSpPr>
          <p:nvPr>
            <p:ph idx="1"/>
          </p:nvPr>
        </p:nvSpPr>
        <p:spPr>
          <a:xfrm>
            <a:off x="1451579" y="2015732"/>
            <a:ext cx="9603275" cy="3923595"/>
          </a:xfrm>
        </p:spPr>
        <p:txBody>
          <a:bodyPr anchor="t"/>
          <a:lstStyle>
            <a:lvl1pPr>
              <a:defRPr sz="2800"/>
            </a:lvl1pPr>
            <a:lvl2pPr>
              <a:defRPr sz="2400"/>
            </a:lvl2pPr>
            <a:lvl3pPr>
              <a:defRPr sz="2000"/>
            </a:lvl3pPr>
            <a:lvl4pPr>
              <a:defRPr sz="18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10767700" y="6373029"/>
            <a:ext cx="1344047" cy="309201"/>
          </a:xfrm>
        </p:spPr>
        <p:txBody>
          <a:bodyPr/>
          <a:lstStyle>
            <a:lvl1pPr algn="r">
              <a:defRPr b="1">
                <a:solidFill>
                  <a:schemeClr val="tx1"/>
                </a:solidFill>
              </a:defRPr>
            </a:lvl1pPr>
          </a:lstStyle>
          <a:p>
            <a:r>
              <a:rPr lang="en-US" dirty="0"/>
              <a:t>© 2025 Vishal Lala</a:t>
            </a:r>
          </a:p>
        </p:txBody>
      </p:sp>
      <p:sp>
        <p:nvSpPr>
          <p:cNvPr id="6" name="Slide Number Placeholder 5"/>
          <p:cNvSpPr>
            <a:spLocks noGrp="1"/>
          </p:cNvSpPr>
          <p:nvPr>
            <p:ph type="sldNum" sz="quarter" idx="12"/>
          </p:nvPr>
        </p:nvSpPr>
        <p:spPr>
          <a:xfrm>
            <a:off x="80253" y="6236064"/>
            <a:ext cx="811019" cy="503578"/>
          </a:xfrm>
        </p:spPr>
        <p:txBody>
          <a:bodyPr/>
          <a:lstStyle>
            <a:lvl1pPr>
              <a:defRPr sz="2400">
                <a:solidFill>
                  <a:schemeClr val="tx1"/>
                </a:solidFill>
              </a:defRPr>
            </a:lvl1pPr>
          </a:lstStyle>
          <a:p>
            <a:fld id="{D9C5D737-E2F4-4032-9B49-A81173D391B8}" type="slidenum">
              <a:rPr lang="en-US" smtClean="0"/>
              <a:pPr/>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254626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a:xfrm>
            <a:off x="10613876" y="6448095"/>
            <a:ext cx="1420959" cy="309201"/>
          </a:xfrm>
        </p:spPr>
        <p:txBody>
          <a:bodyPr/>
          <a:lstStyle>
            <a:lvl1pPr algn="r">
              <a:defRPr b="1">
                <a:solidFill>
                  <a:schemeClr val="tx1"/>
                </a:solidFill>
              </a:defRPr>
            </a:lvl1pPr>
          </a:lstStyle>
          <a:p>
            <a:r>
              <a:rPr lang="en-US" dirty="0"/>
              <a:t>© 2025 Vishal Lala</a:t>
            </a:r>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2317731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a:xfrm>
            <a:off x="10639512" y="6373029"/>
            <a:ext cx="1408897" cy="309201"/>
          </a:xfrm>
        </p:spPr>
        <p:txBody>
          <a:bodyPr/>
          <a:lstStyle>
            <a:lvl1pPr>
              <a:defRPr b="1">
                <a:solidFill>
                  <a:schemeClr val="tx1"/>
                </a:solidFill>
              </a:defRPr>
            </a:lvl1pPr>
          </a:lstStyle>
          <a:p>
            <a:r>
              <a:rPr lang="en-US" dirty="0"/>
              <a:t>© 2025 Vishal Lala</a:t>
            </a:r>
          </a:p>
        </p:txBody>
      </p:sp>
      <p:sp>
        <p:nvSpPr>
          <p:cNvPr id="7" name="Slide Number Placeholder 6"/>
          <p:cNvSpPr>
            <a:spLocks noGrp="1"/>
          </p:cNvSpPr>
          <p:nvPr>
            <p:ph type="sldNum" sz="quarter" idx="12"/>
          </p:nvPr>
        </p:nvSpPr>
        <p:spPr>
          <a:xfrm>
            <a:off x="326235" y="6178652"/>
            <a:ext cx="811019" cy="503578"/>
          </a:xfrm>
        </p:spPr>
        <p:txBody>
          <a:bodyPr/>
          <a:lstStyle>
            <a:lvl1pPr>
              <a:defRPr sz="2400"/>
            </a:lvl1pPr>
          </a:lstStyle>
          <a:p>
            <a:fld id="{D9C5D737-E2F4-4032-9B49-A81173D391B8}" type="slidenum">
              <a:rPr lang="en-US" smtClean="0"/>
              <a:pPr/>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031593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a:t>© 2025 Vishal Lala</a:t>
            </a:r>
          </a:p>
        </p:txBody>
      </p:sp>
      <p:sp>
        <p:nvSpPr>
          <p:cNvPr id="9" name="Slide Number Placeholder 8"/>
          <p:cNvSpPr>
            <a:spLocks noGrp="1"/>
          </p:cNvSpPr>
          <p:nvPr>
            <p:ph type="sldNum" sz="quarter" idx="12"/>
          </p:nvPr>
        </p:nvSpPr>
        <p:spPr>
          <a:xfrm>
            <a:off x="138228" y="6217006"/>
            <a:ext cx="811019" cy="503578"/>
          </a:xfrm>
        </p:spPr>
        <p:txBody>
          <a:bodyPr/>
          <a:lstStyle>
            <a:lvl1pPr>
              <a:defRPr sz="2400">
                <a:solidFill>
                  <a:schemeClr val="tx1"/>
                </a:solidFill>
              </a:defRPr>
            </a:lvl1pPr>
          </a:lstStyle>
          <a:p>
            <a:fld id="{D9C5D737-E2F4-4032-9B49-A81173D391B8}" type="slidenum">
              <a:rPr lang="en-US" smtClean="0"/>
              <a:pPr/>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026842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a:xfrm>
            <a:off x="10366048" y="6373029"/>
            <a:ext cx="1579275" cy="309201"/>
          </a:xfrm>
        </p:spPr>
        <p:txBody>
          <a:bodyPr/>
          <a:lstStyle>
            <a:lvl1pPr>
              <a:defRPr b="1">
                <a:solidFill>
                  <a:schemeClr val="tx1"/>
                </a:solidFill>
              </a:defRPr>
            </a:lvl1pPr>
          </a:lstStyle>
          <a:p>
            <a:r>
              <a:rPr lang="en-US" dirty="0"/>
              <a:t>© 2025 Vishal Lala</a:t>
            </a:r>
          </a:p>
        </p:txBody>
      </p:sp>
      <p:sp>
        <p:nvSpPr>
          <p:cNvPr id="5" name="Slide Number Placeholder 4"/>
          <p:cNvSpPr>
            <a:spLocks noGrp="1"/>
          </p:cNvSpPr>
          <p:nvPr>
            <p:ph type="sldNum" sz="quarter" idx="12"/>
          </p:nvPr>
        </p:nvSpPr>
        <p:spPr>
          <a:xfrm>
            <a:off x="326235" y="6217007"/>
            <a:ext cx="811019" cy="503578"/>
          </a:xfrm>
        </p:spPr>
        <p:txBody>
          <a:bodyPr/>
          <a:lstStyle>
            <a:lvl1pPr>
              <a:defRPr sz="2400">
                <a:solidFill>
                  <a:schemeClr val="tx1"/>
                </a:solidFill>
              </a:defRPr>
            </a:lvl1pPr>
          </a:lstStyle>
          <a:p>
            <a:fld id="{D9C5D737-E2F4-4032-9B49-A81173D391B8}" type="slidenum">
              <a:rPr lang="en-US" smtClean="0"/>
              <a:pPr/>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099432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 2025 Vishal Lala</a:t>
            </a:r>
          </a:p>
        </p:txBody>
      </p:sp>
      <p:sp>
        <p:nvSpPr>
          <p:cNvPr id="4" name="Slide Number Placeholder 3"/>
          <p:cNvSpPr>
            <a:spLocks noGrp="1"/>
          </p:cNvSpPr>
          <p:nvPr>
            <p:ph type="sldNum" sz="quarter" idx="12"/>
          </p:nvPr>
        </p:nvSpPr>
        <p:spPr/>
        <p:txBody>
          <a:bodyPr/>
          <a:lstStyle/>
          <a:p>
            <a:fld id="{D9C5D737-E2F4-4032-9B49-A81173D391B8}" type="slidenum">
              <a:rPr lang="en-US" smtClean="0"/>
              <a:t>‹#›</a:t>
            </a:fld>
            <a:endParaRPr lang="en-US"/>
          </a:p>
        </p:txBody>
      </p:sp>
    </p:spTree>
    <p:extLst>
      <p:ext uri="{BB962C8B-B14F-4D97-AF65-F5344CB8AC3E}">
        <p14:creationId xmlns:p14="http://schemas.microsoft.com/office/powerpoint/2010/main" val="246943815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 2025 Vishal Lala</a:t>
            </a:r>
          </a:p>
        </p:txBody>
      </p:sp>
      <p:sp>
        <p:nvSpPr>
          <p:cNvPr id="7" name="Slide Number Placeholder 6"/>
          <p:cNvSpPr>
            <a:spLocks noGrp="1"/>
          </p:cNvSpPr>
          <p:nvPr>
            <p:ph type="sldNum" sz="quarter" idx="12"/>
          </p:nvPr>
        </p:nvSpPr>
        <p:spPr/>
        <p:txBody>
          <a:bodyPr/>
          <a:lstStyle/>
          <a:p>
            <a:fld id="{D9C5D737-E2F4-4032-9B49-A81173D391B8}"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365384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endParaRPr lang="en-US"/>
          </a:p>
        </p:txBody>
      </p:sp>
      <p:sp>
        <p:nvSpPr>
          <p:cNvPr id="6" name="Footer Placeholder 5"/>
          <p:cNvSpPr>
            <a:spLocks noGrp="1"/>
          </p:cNvSpPr>
          <p:nvPr>
            <p:ph type="ftr" sz="quarter" idx="11"/>
          </p:nvPr>
        </p:nvSpPr>
        <p:spPr>
          <a:xfrm>
            <a:off x="1447382" y="318640"/>
            <a:ext cx="5541004" cy="320931"/>
          </a:xfrm>
        </p:spPr>
        <p:txBody>
          <a:bodyPr/>
          <a:lstStyle/>
          <a:p>
            <a:r>
              <a:rPr lang="en-US"/>
              <a:t>© 2025 Vishal Lala</a:t>
            </a:r>
          </a:p>
        </p:txBody>
      </p:sp>
      <p:sp>
        <p:nvSpPr>
          <p:cNvPr id="7" name="Slide Number Placeholder 6"/>
          <p:cNvSpPr>
            <a:spLocks noGrp="1"/>
          </p:cNvSpPr>
          <p:nvPr>
            <p:ph type="sldNum" sz="quarter" idx="12"/>
          </p:nvPr>
        </p:nvSpPr>
        <p:spPr/>
        <p:txBody>
          <a:bodyPr/>
          <a:lstStyle/>
          <a:p>
            <a:fld id="{D9C5D737-E2F4-4032-9B49-A81173D391B8}"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6065114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 2025 Vishal Lala</a:t>
            </a:r>
          </a:p>
        </p:txBody>
      </p:sp>
      <p:sp>
        <p:nvSpPr>
          <p:cNvPr id="6" name="Slide Number Placeholder 5"/>
          <p:cNvSpPr>
            <a:spLocks noGrp="1"/>
          </p:cNvSpPr>
          <p:nvPr>
            <p:ph type="sldNum" sz="quarter" idx="12"/>
          </p:nvPr>
        </p:nvSpPr>
        <p:spPr/>
        <p:txBody>
          <a:bodyPr/>
          <a:lstStyle/>
          <a:p>
            <a:fld id="{D9C5D737-E2F4-4032-9B49-A81173D391B8}"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796618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 2025 Vishal Lala</a:t>
            </a:r>
          </a:p>
        </p:txBody>
      </p:sp>
      <p:sp>
        <p:nvSpPr>
          <p:cNvPr id="6" name="Slide Number Placeholder 5"/>
          <p:cNvSpPr>
            <a:spLocks noGrp="1"/>
          </p:cNvSpPr>
          <p:nvPr>
            <p:ph type="sldNum" sz="quarter" idx="12"/>
          </p:nvPr>
        </p:nvSpPr>
        <p:spPr/>
        <p:txBody>
          <a:bodyPr/>
          <a:lstStyle/>
          <a:p>
            <a:fld id="{D9C5D737-E2F4-4032-9B49-A81173D391B8}"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11643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jp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A587A5AD-B0C9-4861-90D9-20B2BB47AC0A}" type="datetime1">
              <a:rPr lang="en-US" smtClean="0"/>
              <a:t>6/29/2026</a:t>
            </a:fld>
            <a:endParaRPr lang="en-US"/>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r>
              <a:rPr lang="en-US"/>
              <a:t>© 2026 Vishal Lala</a:t>
            </a:r>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B9FD85AE-1124-49A6-8860-0DC337D80F96}" type="slidenum">
              <a:rPr lang="en-US" smtClean="0"/>
              <a:t>‹#›</a:t>
            </a:fld>
            <a:endParaRPr lang="en-US"/>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7738673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a:t>© 2025 Vishal Lala</a:t>
            </a:r>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D9C5D737-E2F4-4032-9B49-A81173D391B8}"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806975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a:t>© 2025 Vishal Lala</a:t>
            </a:r>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D9C5D737-E2F4-4032-9B49-A81173D391B8}"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601592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23.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6.xml"/><Relationship Id="rId4" Type="http://schemas.openxmlformats.org/officeDocument/2006/relationships/image" Target="../media/image4.sv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63CB0-3550-5242-C60E-6BC5BDD97359}"/>
              </a:ext>
            </a:extLst>
          </p:cNvPr>
          <p:cNvSpPr>
            <a:spLocks noGrp="1"/>
          </p:cNvSpPr>
          <p:nvPr>
            <p:ph type="ctrTitle"/>
          </p:nvPr>
        </p:nvSpPr>
        <p:spPr/>
        <p:txBody>
          <a:bodyPr/>
          <a:lstStyle/>
          <a:p>
            <a:r>
              <a:rPr lang="en-US" dirty="0"/>
              <a:t>Data Analytics</a:t>
            </a:r>
          </a:p>
        </p:txBody>
      </p:sp>
      <p:sp>
        <p:nvSpPr>
          <p:cNvPr id="6" name="Subtitle 5">
            <a:extLst>
              <a:ext uri="{FF2B5EF4-FFF2-40B4-BE49-F238E27FC236}">
                <a16:creationId xmlns:a16="http://schemas.microsoft.com/office/drawing/2014/main" id="{5363A4AA-FFF2-36FB-039D-7285BDDAABBF}"/>
              </a:ext>
            </a:extLst>
          </p:cNvPr>
          <p:cNvSpPr>
            <a:spLocks noGrp="1"/>
          </p:cNvSpPr>
          <p:nvPr>
            <p:ph type="subTitle" idx="1"/>
          </p:nvPr>
        </p:nvSpPr>
        <p:spPr/>
        <p:txBody>
          <a:bodyPr/>
          <a:lstStyle/>
          <a:p>
            <a:r>
              <a:rPr lang="en-US" dirty="0"/>
              <a:t>Session 2: Explore Data</a:t>
            </a:r>
          </a:p>
        </p:txBody>
      </p:sp>
      <p:sp>
        <p:nvSpPr>
          <p:cNvPr id="4" name="Footer Placeholder 3">
            <a:extLst>
              <a:ext uri="{FF2B5EF4-FFF2-40B4-BE49-F238E27FC236}">
                <a16:creationId xmlns:a16="http://schemas.microsoft.com/office/drawing/2014/main" id="{85F1BD8A-BBDD-0F24-6D7F-CB21D0DD3EFA}"/>
              </a:ext>
            </a:extLst>
          </p:cNvPr>
          <p:cNvSpPr>
            <a:spLocks noGrp="1"/>
          </p:cNvSpPr>
          <p:nvPr>
            <p:ph type="ftr" sz="quarter" idx="11"/>
          </p:nvPr>
        </p:nvSpPr>
        <p:spPr/>
        <p:txBody>
          <a:bodyPr/>
          <a:lstStyle/>
          <a:p>
            <a:r>
              <a:rPr lang="en-US"/>
              <a:t>© 2026 Vishal Lala</a:t>
            </a:r>
          </a:p>
        </p:txBody>
      </p:sp>
      <p:sp>
        <p:nvSpPr>
          <p:cNvPr id="5" name="Slide Number Placeholder 4">
            <a:extLst>
              <a:ext uri="{FF2B5EF4-FFF2-40B4-BE49-F238E27FC236}">
                <a16:creationId xmlns:a16="http://schemas.microsoft.com/office/drawing/2014/main" id="{83AC8FB4-D9CE-59DE-8C13-ED78D095CE2F}"/>
              </a:ext>
            </a:extLst>
          </p:cNvPr>
          <p:cNvSpPr>
            <a:spLocks noGrp="1"/>
          </p:cNvSpPr>
          <p:nvPr>
            <p:ph type="sldNum" sz="quarter" idx="12"/>
          </p:nvPr>
        </p:nvSpPr>
        <p:spPr/>
        <p:txBody>
          <a:bodyPr/>
          <a:lstStyle/>
          <a:p>
            <a:fld id="{B9FD85AE-1124-49A6-8860-0DC337D80F96}" type="slidenum">
              <a:rPr lang="en-US" smtClean="0"/>
              <a:t>1</a:t>
            </a:fld>
            <a:endParaRPr lang="en-US"/>
          </a:p>
        </p:txBody>
      </p:sp>
    </p:spTree>
    <p:extLst>
      <p:ext uri="{BB962C8B-B14F-4D97-AF65-F5344CB8AC3E}">
        <p14:creationId xmlns:p14="http://schemas.microsoft.com/office/powerpoint/2010/main" val="2261999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BBD29-0724-1437-6499-94DD52AB6110}"/>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67C1FBF5-61F6-4C4A-2A3A-29633B3CBADC}"/>
              </a:ext>
            </a:extLst>
          </p:cNvPr>
          <p:cNvSpPr>
            <a:spLocks noGrp="1"/>
          </p:cNvSpPr>
          <p:nvPr>
            <p:ph idx="1"/>
          </p:nvPr>
        </p:nvSpPr>
        <p:spPr/>
        <p:txBody>
          <a:bodyPr>
            <a:normAutofit/>
          </a:bodyPr>
          <a:lstStyle/>
          <a:p>
            <a:r>
              <a:rPr lang="en-US" sz="2400" dirty="0">
                <a:solidFill>
                  <a:schemeClr val="bg1">
                    <a:lumMod val="75000"/>
                  </a:schemeClr>
                </a:solidFill>
              </a:rPr>
              <a:t>Session 1: Setup </a:t>
            </a:r>
          </a:p>
          <a:p>
            <a:r>
              <a:rPr lang="en-US" sz="2400" dirty="0">
                <a:solidFill>
                  <a:schemeClr val="tx1"/>
                </a:solidFill>
              </a:rPr>
              <a:t>Session 2: Explore Data</a:t>
            </a:r>
          </a:p>
          <a:p>
            <a:r>
              <a:rPr lang="en-US" sz="2400" dirty="0">
                <a:solidFill>
                  <a:schemeClr val="bg1">
                    <a:lumMod val="75000"/>
                  </a:schemeClr>
                </a:solidFill>
              </a:rPr>
              <a:t>Session 3: Transform Data</a:t>
            </a:r>
          </a:p>
          <a:p>
            <a:r>
              <a:rPr lang="en-US" sz="2400" dirty="0">
                <a:solidFill>
                  <a:schemeClr val="bg1">
                    <a:lumMod val="75000"/>
                  </a:schemeClr>
                </a:solidFill>
              </a:rPr>
              <a:t>Session 4: Share Insights</a:t>
            </a:r>
          </a:p>
        </p:txBody>
      </p:sp>
      <p:sp>
        <p:nvSpPr>
          <p:cNvPr id="4" name="Footer Placeholder 3">
            <a:extLst>
              <a:ext uri="{FF2B5EF4-FFF2-40B4-BE49-F238E27FC236}">
                <a16:creationId xmlns:a16="http://schemas.microsoft.com/office/drawing/2014/main" id="{293172EE-DE79-D1D6-4694-8E1BC9BCD6FD}"/>
              </a:ext>
            </a:extLst>
          </p:cNvPr>
          <p:cNvSpPr>
            <a:spLocks noGrp="1"/>
          </p:cNvSpPr>
          <p:nvPr>
            <p:ph type="ftr" sz="quarter" idx="11"/>
          </p:nvPr>
        </p:nvSpPr>
        <p:spPr/>
        <p:txBody>
          <a:bodyPr/>
          <a:lstStyle/>
          <a:p>
            <a:r>
              <a:rPr lang="en-US" dirty="0"/>
              <a:t>© 2026 Vishal Lala</a:t>
            </a:r>
          </a:p>
        </p:txBody>
      </p:sp>
      <p:sp>
        <p:nvSpPr>
          <p:cNvPr id="5" name="Slide Number Placeholder 4">
            <a:extLst>
              <a:ext uri="{FF2B5EF4-FFF2-40B4-BE49-F238E27FC236}">
                <a16:creationId xmlns:a16="http://schemas.microsoft.com/office/drawing/2014/main" id="{569C3AA7-059C-1A04-CBC2-99B3111CCB96}"/>
              </a:ext>
            </a:extLst>
          </p:cNvPr>
          <p:cNvSpPr>
            <a:spLocks noGrp="1"/>
          </p:cNvSpPr>
          <p:nvPr>
            <p:ph type="sldNum" sz="quarter" idx="12"/>
          </p:nvPr>
        </p:nvSpPr>
        <p:spPr/>
        <p:txBody>
          <a:bodyPr/>
          <a:lstStyle/>
          <a:p>
            <a:fld id="{B9FD85AE-1124-49A6-8860-0DC337D80F96}" type="slidenum">
              <a:rPr lang="en-US" smtClean="0"/>
              <a:t>2</a:t>
            </a:fld>
            <a:endParaRPr lang="en-US"/>
          </a:p>
        </p:txBody>
      </p:sp>
    </p:spTree>
    <p:extLst>
      <p:ext uri="{BB962C8B-B14F-4D97-AF65-F5344CB8AC3E}">
        <p14:creationId xmlns:p14="http://schemas.microsoft.com/office/powerpoint/2010/main" val="3461290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56412368-7E6B-4064-B6FA-72DF6DA0C2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7" name="Rectangle 26">
            <a:extLst>
              <a:ext uri="{FF2B5EF4-FFF2-40B4-BE49-F238E27FC236}">
                <a16:creationId xmlns:a16="http://schemas.microsoft.com/office/drawing/2014/main" id="{8014FE20-9BCC-4219-A8AD-B1C110BD55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Title 1">
            <a:extLst>
              <a:ext uri="{FF2B5EF4-FFF2-40B4-BE49-F238E27FC236}">
                <a16:creationId xmlns:a16="http://schemas.microsoft.com/office/drawing/2014/main" id="{7AB23ACD-2108-FA3F-5CE9-87BCC3C0F34B}"/>
              </a:ext>
            </a:extLst>
          </p:cNvPr>
          <p:cNvSpPr>
            <a:spLocks noGrp="1"/>
          </p:cNvSpPr>
          <p:nvPr>
            <p:ph type="ctrTitle"/>
          </p:nvPr>
        </p:nvSpPr>
        <p:spPr>
          <a:xfrm>
            <a:off x="1452617" y="976508"/>
            <a:ext cx="5525305" cy="2367221"/>
          </a:xfrm>
        </p:spPr>
        <p:txBody>
          <a:bodyPr>
            <a:normAutofit/>
          </a:bodyPr>
          <a:lstStyle/>
          <a:p>
            <a:r>
              <a:rPr lang="en-US" sz="5400" dirty="0"/>
              <a:t>Data Structures</a:t>
            </a:r>
          </a:p>
        </p:txBody>
      </p:sp>
      <p:sp>
        <p:nvSpPr>
          <p:cNvPr id="3" name="Subtitle 2">
            <a:extLst>
              <a:ext uri="{FF2B5EF4-FFF2-40B4-BE49-F238E27FC236}">
                <a16:creationId xmlns:a16="http://schemas.microsoft.com/office/drawing/2014/main" id="{7CB61371-F3E6-3710-90EF-4224BBE5EF25}"/>
              </a:ext>
            </a:extLst>
          </p:cNvPr>
          <p:cNvSpPr>
            <a:spLocks noGrp="1"/>
          </p:cNvSpPr>
          <p:nvPr>
            <p:ph type="subTitle" idx="1"/>
          </p:nvPr>
        </p:nvSpPr>
        <p:spPr>
          <a:xfrm>
            <a:off x="1452617" y="3531204"/>
            <a:ext cx="5530919" cy="1606576"/>
          </a:xfrm>
        </p:spPr>
        <p:txBody>
          <a:bodyPr>
            <a:normAutofit/>
          </a:bodyPr>
          <a:lstStyle/>
          <a:p>
            <a:endParaRPr lang="en-US"/>
          </a:p>
        </p:txBody>
      </p:sp>
      <p:cxnSp>
        <p:nvCxnSpPr>
          <p:cNvPr id="28" name="Straight Connector 27">
            <a:extLst>
              <a:ext uri="{FF2B5EF4-FFF2-40B4-BE49-F238E27FC236}">
                <a16:creationId xmlns:a16="http://schemas.microsoft.com/office/drawing/2014/main" id="{A661C966-C6C8-4667-903D-E68521C357F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2618" y="3528543"/>
            <a:ext cx="5536119" cy="0"/>
          </a:xfrm>
          <a:prstGeom prst="line">
            <a:avLst/>
          </a:prstGeom>
          <a:ln w="31750"/>
        </p:spPr>
        <p:style>
          <a:lnRef idx="3">
            <a:schemeClr val="accent1"/>
          </a:lnRef>
          <a:fillRef idx="0">
            <a:schemeClr val="accent1"/>
          </a:fillRef>
          <a:effectRef idx="2">
            <a:schemeClr val="accent1"/>
          </a:effectRef>
          <a:fontRef idx="minor">
            <a:schemeClr val="tx1"/>
          </a:fontRef>
        </p:style>
      </p:cxnSp>
      <p:grpSp>
        <p:nvGrpSpPr>
          <p:cNvPr id="29" name="Group 28">
            <a:extLst>
              <a:ext uri="{FF2B5EF4-FFF2-40B4-BE49-F238E27FC236}">
                <a16:creationId xmlns:a16="http://schemas.microsoft.com/office/drawing/2014/main" id="{36439133-030D-427C-AADE-2B48B199178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77388" y="482171"/>
            <a:ext cx="4074533" cy="5149101"/>
            <a:chOff x="7477388" y="482171"/>
            <a:chExt cx="4074533" cy="5149101"/>
          </a:xfrm>
        </p:grpSpPr>
        <p:sp>
          <p:nvSpPr>
            <p:cNvPr id="17" name="Rectangle 16">
              <a:extLst>
                <a:ext uri="{FF2B5EF4-FFF2-40B4-BE49-F238E27FC236}">
                  <a16:creationId xmlns:a16="http://schemas.microsoft.com/office/drawing/2014/main" id="{2C11378B-6628-411A-9A79-CF10232D7D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77388" y="482171"/>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30" name="Rectangle 29">
              <a:extLst>
                <a:ext uri="{FF2B5EF4-FFF2-40B4-BE49-F238E27FC236}">
                  <a16:creationId xmlns:a16="http://schemas.microsoft.com/office/drawing/2014/main" id="{08E6BF6A-26B8-45E6-887E-FE78A7984F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47" y="812507"/>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grpSp>
      <p:sp>
        <p:nvSpPr>
          <p:cNvPr id="31" name="Rectangle 30">
            <a:extLst>
              <a:ext uri="{FF2B5EF4-FFF2-40B4-BE49-F238E27FC236}">
                <a16:creationId xmlns:a16="http://schemas.microsoft.com/office/drawing/2014/main" id="{82388B0B-738B-4313-8674-79D97E74A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51624" y="977965"/>
            <a:ext cx="3119444" cy="4135339"/>
          </a:xfrm>
          <a:prstGeom prst="rect">
            <a:avLst/>
          </a:prstGeom>
          <a:solidFill>
            <a:schemeClr val="bg1"/>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pic>
        <p:nvPicPr>
          <p:cNvPr id="5" name="Picture 4">
            <a:extLst>
              <a:ext uri="{FF2B5EF4-FFF2-40B4-BE49-F238E27FC236}">
                <a16:creationId xmlns:a16="http://schemas.microsoft.com/office/drawing/2014/main" id="{C4685D4C-31CC-689C-314D-6B4DFBA03D76}"/>
              </a:ext>
            </a:extLst>
          </p:cNvPr>
          <p:cNvPicPr>
            <a:picLocks noChangeAspect="1"/>
          </p:cNvPicPr>
          <p:nvPr/>
        </p:nvPicPr>
        <p:blipFill>
          <a:blip r:embed="rId2"/>
          <a:stretch>
            <a:fillRect/>
          </a:stretch>
        </p:blipFill>
        <p:spPr>
          <a:xfrm>
            <a:off x="8116373" y="1503839"/>
            <a:ext cx="2799103" cy="3091183"/>
          </a:xfrm>
          <a:prstGeom prst="rect">
            <a:avLst/>
          </a:prstGeom>
        </p:spPr>
      </p:pic>
      <p:pic>
        <p:nvPicPr>
          <p:cNvPr id="32" name="Picture 31">
            <a:extLst>
              <a:ext uri="{FF2B5EF4-FFF2-40B4-BE49-F238E27FC236}">
                <a16:creationId xmlns:a16="http://schemas.microsoft.com/office/drawing/2014/main" id="{6DF84359-5DD6-461B-9519-90AA2F46C1B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33" name="Straight Connector 32">
            <a:extLst>
              <a:ext uri="{FF2B5EF4-FFF2-40B4-BE49-F238E27FC236}">
                <a16:creationId xmlns:a16="http://schemas.microsoft.com/office/drawing/2014/main" id="{E90BC892-CE86-41EE-8A3B-2178D5170C7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53414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45E93-85D2-F4DA-ACFB-B94BB58A2AC8}"/>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C6496A66-3B2D-B2CC-A667-A98AF1596995}"/>
              </a:ext>
            </a:extLst>
          </p:cNvPr>
          <p:cNvSpPr>
            <a:spLocks noGrp="1"/>
          </p:cNvSpPr>
          <p:nvPr>
            <p:ph idx="1"/>
          </p:nvPr>
        </p:nvSpPr>
        <p:spPr/>
        <p:txBody>
          <a:bodyPr/>
          <a:lstStyle/>
          <a:p>
            <a:r>
              <a:rPr lang="en-US" dirty="0"/>
              <a:t>Tuple</a:t>
            </a:r>
          </a:p>
          <a:p>
            <a:r>
              <a:rPr lang="en-US" dirty="0"/>
              <a:t>List</a:t>
            </a:r>
          </a:p>
          <a:p>
            <a:r>
              <a:rPr lang="en-US" dirty="0"/>
              <a:t>Dictionary</a:t>
            </a:r>
          </a:p>
          <a:p>
            <a:r>
              <a:rPr lang="en-US" dirty="0"/>
              <a:t>Set</a:t>
            </a:r>
          </a:p>
          <a:p>
            <a:r>
              <a:rPr lang="en-US" dirty="0"/>
              <a:t>Class</a:t>
            </a:r>
          </a:p>
        </p:txBody>
      </p:sp>
    </p:spTree>
    <p:extLst>
      <p:ext uri="{BB962C8B-B14F-4D97-AF65-F5344CB8AC3E}">
        <p14:creationId xmlns:p14="http://schemas.microsoft.com/office/powerpoint/2010/main" val="31228979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0DE3CD-4E83-D5C8-C1A0-B9D695614E75}"/>
              </a:ext>
            </a:extLst>
          </p:cNvPr>
          <p:cNvSpPr>
            <a:spLocks noGrp="1"/>
          </p:cNvSpPr>
          <p:nvPr>
            <p:ph type="title"/>
          </p:nvPr>
        </p:nvSpPr>
        <p:spPr/>
        <p:txBody>
          <a:bodyPr/>
          <a:lstStyle/>
          <a:p>
            <a:r>
              <a:rPr lang="en-US" dirty="0"/>
              <a:t>Tuple</a:t>
            </a:r>
          </a:p>
        </p:txBody>
      </p:sp>
      <p:sp>
        <p:nvSpPr>
          <p:cNvPr id="5" name="Text Placeholder 4">
            <a:extLst>
              <a:ext uri="{FF2B5EF4-FFF2-40B4-BE49-F238E27FC236}">
                <a16:creationId xmlns:a16="http://schemas.microsoft.com/office/drawing/2014/main" id="{E500F0CC-461D-3935-7443-8EDFA7E24DA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071629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D9694-FDBA-6B16-A7B9-4220EAB2DF98}"/>
              </a:ext>
            </a:extLst>
          </p:cNvPr>
          <p:cNvSpPr>
            <a:spLocks noGrp="1"/>
          </p:cNvSpPr>
          <p:nvPr>
            <p:ph type="title"/>
          </p:nvPr>
        </p:nvSpPr>
        <p:spPr/>
        <p:txBody>
          <a:bodyPr/>
          <a:lstStyle/>
          <a:p>
            <a:r>
              <a:rPr lang="en-US" dirty="0"/>
              <a:t>Tuple</a:t>
            </a:r>
          </a:p>
        </p:txBody>
      </p:sp>
      <p:sp>
        <p:nvSpPr>
          <p:cNvPr id="3" name="Content Placeholder 2">
            <a:extLst>
              <a:ext uri="{FF2B5EF4-FFF2-40B4-BE49-F238E27FC236}">
                <a16:creationId xmlns:a16="http://schemas.microsoft.com/office/drawing/2014/main" id="{FE149757-1CEF-C0B1-F9E2-B90AE9DA6BED}"/>
              </a:ext>
            </a:extLst>
          </p:cNvPr>
          <p:cNvSpPr>
            <a:spLocks noGrp="1"/>
          </p:cNvSpPr>
          <p:nvPr>
            <p:ph idx="1"/>
          </p:nvPr>
        </p:nvSpPr>
        <p:spPr/>
        <p:txBody>
          <a:bodyPr>
            <a:normAutofit lnSpcReduction="10000"/>
          </a:bodyPr>
          <a:lstStyle/>
          <a:p>
            <a:r>
              <a:rPr lang="en-US" dirty="0"/>
              <a:t>A tuple is a fixed-length immutable sequence of Python objects.</a:t>
            </a:r>
          </a:p>
          <a:p>
            <a:r>
              <a:rPr lang="en-US" dirty="0"/>
              <a:t>Tuple can be created using parentheses or invoking tuple(). </a:t>
            </a:r>
          </a:p>
          <a:p>
            <a:r>
              <a:rPr lang="en-US" dirty="0"/>
              <a:t>That said, the parentheses for creating a tuple is a norm, not a requirement.</a:t>
            </a:r>
          </a:p>
          <a:p>
            <a:r>
              <a:rPr lang="en-US" dirty="0"/>
              <a:t>Elements of a tuple can be accessed using square brackets</a:t>
            </a:r>
          </a:p>
          <a:p>
            <a:r>
              <a:rPr lang="en-US" dirty="0"/>
              <a:t>Tuples do not have too many methods. A particularly useful method is count which counts occurrences of a value.</a:t>
            </a:r>
          </a:p>
        </p:txBody>
      </p:sp>
    </p:spTree>
    <p:extLst>
      <p:ext uri="{BB962C8B-B14F-4D97-AF65-F5344CB8AC3E}">
        <p14:creationId xmlns:p14="http://schemas.microsoft.com/office/powerpoint/2010/main" val="38262050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6A66B35-B4C9-353F-A517-B727D56087CC}"/>
              </a:ext>
            </a:extLst>
          </p:cNvPr>
          <p:cNvSpPr>
            <a:spLocks noGrp="1"/>
          </p:cNvSpPr>
          <p:nvPr>
            <p:ph type="title"/>
          </p:nvPr>
        </p:nvSpPr>
        <p:spPr/>
        <p:txBody>
          <a:bodyPr/>
          <a:lstStyle/>
          <a:p>
            <a:r>
              <a:rPr lang="en-US" dirty="0"/>
              <a:t>List</a:t>
            </a:r>
          </a:p>
        </p:txBody>
      </p:sp>
      <p:sp>
        <p:nvSpPr>
          <p:cNvPr id="6" name="Text Placeholder 5">
            <a:extLst>
              <a:ext uri="{FF2B5EF4-FFF2-40B4-BE49-F238E27FC236}">
                <a16:creationId xmlns:a16="http://schemas.microsoft.com/office/drawing/2014/main" id="{0DF5E6A5-CACD-B0D5-710C-32135E04F74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4009976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4DCB0-FC2A-D9BC-35F0-78F0FD7137DC}"/>
              </a:ext>
            </a:extLst>
          </p:cNvPr>
          <p:cNvSpPr>
            <a:spLocks noGrp="1"/>
          </p:cNvSpPr>
          <p:nvPr>
            <p:ph type="title"/>
          </p:nvPr>
        </p:nvSpPr>
        <p:spPr/>
        <p:txBody>
          <a:bodyPr/>
          <a:lstStyle/>
          <a:p>
            <a:r>
              <a:rPr lang="en-US" dirty="0"/>
              <a:t>List</a:t>
            </a:r>
          </a:p>
        </p:txBody>
      </p:sp>
      <p:sp>
        <p:nvSpPr>
          <p:cNvPr id="3" name="Content Placeholder 2">
            <a:extLst>
              <a:ext uri="{FF2B5EF4-FFF2-40B4-BE49-F238E27FC236}">
                <a16:creationId xmlns:a16="http://schemas.microsoft.com/office/drawing/2014/main" id="{58F0551B-B53B-8358-A58B-9EA943D8F752}"/>
              </a:ext>
            </a:extLst>
          </p:cNvPr>
          <p:cNvSpPr>
            <a:spLocks noGrp="1"/>
          </p:cNvSpPr>
          <p:nvPr>
            <p:ph idx="1"/>
          </p:nvPr>
        </p:nvSpPr>
        <p:spPr/>
        <p:txBody>
          <a:bodyPr>
            <a:normAutofit fontScale="92500" lnSpcReduction="10000"/>
          </a:bodyPr>
          <a:lstStyle/>
          <a:p>
            <a:r>
              <a:rPr lang="en-US" dirty="0"/>
              <a:t>A list is a data structure that holds an ordered collection of values.</a:t>
            </a:r>
          </a:p>
          <a:p>
            <a:r>
              <a:rPr lang="en-US" dirty="0"/>
              <a:t>Unlike tuples, lists are mutable and have variable length.</a:t>
            </a:r>
          </a:p>
          <a:p>
            <a:r>
              <a:rPr lang="en-US" dirty="0"/>
              <a:t>Although a list can contain elements of different types, lists generally have elements of the same type.</a:t>
            </a:r>
          </a:p>
          <a:p>
            <a:r>
              <a:rPr lang="en-US" dirty="0"/>
              <a:t>We often use the term element to describe an item in a list.</a:t>
            </a:r>
          </a:p>
          <a:p>
            <a:r>
              <a:rPr lang="en-US" dirty="0"/>
              <a:t>The length of a list is its number of elements.</a:t>
            </a:r>
          </a:p>
          <a:p>
            <a:r>
              <a:rPr lang="en-US" dirty="0"/>
              <a:t>A list may be instantiated using [ ] or list( ).</a:t>
            </a:r>
          </a:p>
        </p:txBody>
      </p:sp>
    </p:spTree>
    <p:extLst>
      <p:ext uri="{BB962C8B-B14F-4D97-AF65-F5344CB8AC3E}">
        <p14:creationId xmlns:p14="http://schemas.microsoft.com/office/powerpoint/2010/main" val="4197552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900C3-1700-0409-A042-554922B92275}"/>
              </a:ext>
            </a:extLst>
          </p:cNvPr>
          <p:cNvSpPr>
            <a:spLocks noGrp="1"/>
          </p:cNvSpPr>
          <p:nvPr>
            <p:ph type="title"/>
          </p:nvPr>
        </p:nvSpPr>
        <p:spPr/>
        <p:txBody>
          <a:bodyPr/>
          <a:lstStyle/>
          <a:p>
            <a:r>
              <a:rPr lang="en-US" dirty="0"/>
              <a:t>Methods</a:t>
            </a:r>
          </a:p>
        </p:txBody>
      </p:sp>
      <p:sp>
        <p:nvSpPr>
          <p:cNvPr id="3" name="Content Placeholder 2">
            <a:extLst>
              <a:ext uri="{FF2B5EF4-FFF2-40B4-BE49-F238E27FC236}">
                <a16:creationId xmlns:a16="http://schemas.microsoft.com/office/drawing/2014/main" id="{A0097D93-EAB2-A5C6-24E5-A2CDF3FF32E9}"/>
              </a:ext>
            </a:extLst>
          </p:cNvPr>
          <p:cNvSpPr>
            <a:spLocks noGrp="1"/>
          </p:cNvSpPr>
          <p:nvPr>
            <p:ph idx="1"/>
          </p:nvPr>
        </p:nvSpPr>
        <p:spPr/>
        <p:txBody>
          <a:bodyPr>
            <a:normAutofit fontScale="70000" lnSpcReduction="20000"/>
          </a:bodyPr>
          <a:lstStyle/>
          <a:p>
            <a:r>
              <a:rPr lang="en-US" dirty="0"/>
              <a:t>Lists have a number of methods that can be used to mutate or change the list object. </a:t>
            </a:r>
          </a:p>
          <a:p>
            <a:r>
              <a:rPr lang="en-US" dirty="0"/>
              <a:t>Since lists are mutable, after the method is invoked, the result does not have to be assigned to an object. </a:t>
            </a:r>
          </a:p>
          <a:p>
            <a:r>
              <a:rPr lang="en-US" dirty="0"/>
              <a:t>Here are a set of common methods for a list called </a:t>
            </a:r>
            <a:r>
              <a:rPr lang="en-US" dirty="0" err="1"/>
              <a:t>lst</a:t>
            </a:r>
            <a:r>
              <a:rPr lang="en-US" dirty="0"/>
              <a:t>:   </a:t>
            </a:r>
          </a:p>
          <a:p>
            <a:pPr lvl="1"/>
            <a:r>
              <a:rPr lang="en-US" dirty="0" err="1"/>
              <a:t>lst.append</a:t>
            </a:r>
            <a:r>
              <a:rPr lang="en-US" dirty="0"/>
              <a:t>(): Add an elements to the end</a:t>
            </a:r>
          </a:p>
          <a:p>
            <a:pPr lvl="1"/>
            <a:r>
              <a:rPr lang="en-US" dirty="0" err="1"/>
              <a:t>lst.remove</a:t>
            </a:r>
            <a:r>
              <a:rPr lang="en-US" dirty="0"/>
              <a:t>(): Remove a specific element</a:t>
            </a:r>
          </a:p>
          <a:p>
            <a:pPr lvl="1"/>
            <a:r>
              <a:rPr lang="en-US" dirty="0"/>
              <a:t>in: Check if an element is present in the list</a:t>
            </a:r>
          </a:p>
          <a:p>
            <a:pPr lvl="1"/>
            <a:r>
              <a:rPr lang="en-US" dirty="0"/>
              <a:t>not in: Check if an element is not in the list</a:t>
            </a:r>
          </a:p>
          <a:p>
            <a:pPr lvl="1"/>
            <a:r>
              <a:rPr lang="en-US" dirty="0" err="1"/>
              <a:t>lst.extend</a:t>
            </a:r>
            <a:r>
              <a:rPr lang="en-US" dirty="0"/>
              <a:t>(): add elements to the end of the list</a:t>
            </a:r>
          </a:p>
          <a:p>
            <a:pPr lvl="1"/>
            <a:r>
              <a:rPr lang="en-US" dirty="0" err="1"/>
              <a:t>lst.pop</a:t>
            </a:r>
            <a:r>
              <a:rPr lang="en-US" dirty="0"/>
              <a:t>(): removes last element in the list</a:t>
            </a:r>
          </a:p>
          <a:p>
            <a:pPr lvl="1"/>
            <a:r>
              <a:rPr lang="en-US" dirty="0" err="1"/>
              <a:t>lst.sort</a:t>
            </a:r>
            <a:r>
              <a:rPr lang="en-US" dirty="0"/>
              <a:t>(): arrange elements</a:t>
            </a:r>
          </a:p>
        </p:txBody>
      </p:sp>
    </p:spTree>
    <p:extLst>
      <p:ext uri="{BB962C8B-B14F-4D97-AF65-F5344CB8AC3E}">
        <p14:creationId xmlns:p14="http://schemas.microsoft.com/office/powerpoint/2010/main" val="31723641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BF136-6AEA-B8FD-496D-F71019A99C8F}"/>
              </a:ext>
            </a:extLst>
          </p:cNvPr>
          <p:cNvSpPr>
            <a:spLocks noGrp="1"/>
          </p:cNvSpPr>
          <p:nvPr>
            <p:ph type="title"/>
          </p:nvPr>
        </p:nvSpPr>
        <p:spPr/>
        <p:txBody>
          <a:bodyPr/>
          <a:lstStyle/>
          <a:p>
            <a:r>
              <a:rPr lang="en-US" dirty="0"/>
              <a:t>Slicing</a:t>
            </a:r>
          </a:p>
        </p:txBody>
      </p:sp>
      <p:sp>
        <p:nvSpPr>
          <p:cNvPr id="3" name="Content Placeholder 2">
            <a:extLst>
              <a:ext uri="{FF2B5EF4-FFF2-40B4-BE49-F238E27FC236}">
                <a16:creationId xmlns:a16="http://schemas.microsoft.com/office/drawing/2014/main" id="{95EB617C-F95D-AEE6-7BA8-05BD22F4C624}"/>
              </a:ext>
            </a:extLst>
          </p:cNvPr>
          <p:cNvSpPr>
            <a:spLocks noGrp="1"/>
          </p:cNvSpPr>
          <p:nvPr>
            <p:ph idx="1"/>
          </p:nvPr>
        </p:nvSpPr>
        <p:spPr/>
        <p:txBody>
          <a:bodyPr>
            <a:normAutofit fontScale="62500" lnSpcReduction="20000"/>
          </a:bodyPr>
          <a:lstStyle/>
          <a:p>
            <a:r>
              <a:rPr lang="en-US" dirty="0"/>
              <a:t>Since a list holds an ordered collection of values, elements can be identified by their position. </a:t>
            </a:r>
          </a:p>
          <a:p>
            <a:r>
              <a:rPr lang="en-US" dirty="0"/>
              <a:t>Each element is assigned an index position. </a:t>
            </a:r>
          </a:p>
          <a:p>
            <a:r>
              <a:rPr lang="en-US" dirty="0"/>
              <a:t>Indices are consecutive and begin in 0. </a:t>
            </a:r>
          </a:p>
          <a:p>
            <a:r>
              <a:rPr lang="en-US" dirty="0"/>
              <a:t>Square brackets are used for extracting an element by index position. </a:t>
            </a:r>
          </a:p>
          <a:p>
            <a:r>
              <a:rPr lang="en-US" dirty="0"/>
              <a:t>A negative sign before an index means values are extracted relative to the end of the list. </a:t>
            </a:r>
          </a:p>
          <a:p>
            <a:r>
              <a:rPr lang="en-US" dirty="0"/>
              <a:t>A </a:t>
            </a:r>
            <a:r>
              <a:rPr lang="en-US" dirty="0" err="1"/>
              <a:t>start:stop</a:t>
            </a:r>
            <a:r>
              <a:rPr lang="en-US" dirty="0"/>
              <a:t> notation can be passed to a list to subset or slice multiple elements. In this notation, the first element is inclusive but the last element is not included. So, </a:t>
            </a:r>
            <a:r>
              <a:rPr lang="en-US" dirty="0" err="1"/>
              <a:t>lst</a:t>
            </a:r>
            <a:r>
              <a:rPr lang="en-US" dirty="0"/>
              <a:t>[1:3] includes the second, and third elements in the list but not the fourth. </a:t>
            </a:r>
          </a:p>
          <a:p>
            <a:r>
              <a:rPr lang="en-US" dirty="0"/>
              <a:t>A missing index on either side of the : in a slicing operation is a shortcut to indicate all elements before or after.</a:t>
            </a:r>
          </a:p>
        </p:txBody>
      </p:sp>
    </p:spTree>
    <p:extLst>
      <p:ext uri="{BB962C8B-B14F-4D97-AF65-F5344CB8AC3E}">
        <p14:creationId xmlns:p14="http://schemas.microsoft.com/office/powerpoint/2010/main" val="41153008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5C6CC-81B1-C510-B1D2-465EBE08ECA8}"/>
              </a:ext>
            </a:extLst>
          </p:cNvPr>
          <p:cNvSpPr>
            <a:spLocks noGrp="1"/>
          </p:cNvSpPr>
          <p:nvPr>
            <p:ph type="title"/>
          </p:nvPr>
        </p:nvSpPr>
        <p:spPr/>
        <p:txBody>
          <a:bodyPr/>
          <a:lstStyle/>
          <a:p>
            <a:r>
              <a:rPr lang="en-US" dirty="0"/>
              <a:t>Dictionary</a:t>
            </a:r>
          </a:p>
        </p:txBody>
      </p:sp>
      <p:sp>
        <p:nvSpPr>
          <p:cNvPr id="5" name="Text Placeholder 4">
            <a:extLst>
              <a:ext uri="{FF2B5EF4-FFF2-40B4-BE49-F238E27FC236}">
                <a16:creationId xmlns:a16="http://schemas.microsoft.com/office/drawing/2014/main" id="{E2845619-77A7-F2F9-EDC5-E75653DA46E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0441485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2A142-330D-4350-ACFC-AEDAECF39082}"/>
              </a:ext>
            </a:extLst>
          </p:cNvPr>
          <p:cNvSpPr>
            <a:spLocks noGrp="1"/>
          </p:cNvSpPr>
          <p:nvPr>
            <p:ph type="title"/>
          </p:nvPr>
        </p:nvSpPr>
        <p:spPr/>
        <p:txBody>
          <a:bodyPr/>
          <a:lstStyle/>
          <a:p>
            <a:r>
              <a:rPr lang="en-US" dirty="0"/>
              <a:t>Dictionary</a:t>
            </a:r>
          </a:p>
        </p:txBody>
      </p:sp>
      <p:sp>
        <p:nvSpPr>
          <p:cNvPr id="3" name="Content Placeholder 2">
            <a:extLst>
              <a:ext uri="{FF2B5EF4-FFF2-40B4-BE49-F238E27FC236}">
                <a16:creationId xmlns:a16="http://schemas.microsoft.com/office/drawing/2014/main" id="{69D4CDAE-0295-9B84-8819-CB7E63877D53}"/>
              </a:ext>
            </a:extLst>
          </p:cNvPr>
          <p:cNvSpPr>
            <a:spLocks noGrp="1"/>
          </p:cNvSpPr>
          <p:nvPr>
            <p:ph idx="1"/>
          </p:nvPr>
        </p:nvSpPr>
        <p:spPr/>
        <p:txBody>
          <a:bodyPr>
            <a:normAutofit/>
          </a:bodyPr>
          <a:lstStyle/>
          <a:p>
            <a:r>
              <a:rPr lang="en-US" sz="2400" dirty="0"/>
              <a:t>A dictionary is a data structure that stores data as a collection of key-value pairs, where the key and value are Python objects. </a:t>
            </a:r>
          </a:p>
          <a:p>
            <a:r>
              <a:rPr lang="en-US" sz="2400" dirty="0"/>
              <a:t>The key can be used to identify a value to be retrieved, inserted, modified or deleted. A key is a unique identifier for a value. </a:t>
            </a:r>
          </a:p>
          <a:p>
            <a:r>
              <a:rPr lang="en-US" sz="2400" dirty="0"/>
              <a:t>A value corresponds to the key. </a:t>
            </a:r>
          </a:p>
          <a:p>
            <a:r>
              <a:rPr lang="en-US" sz="2400" dirty="0"/>
              <a:t>The values can contain duplicates, the keys should not.  </a:t>
            </a:r>
          </a:p>
          <a:p>
            <a:r>
              <a:rPr lang="en-US" sz="2400" dirty="0"/>
              <a:t>Dictionary is mutable</a:t>
            </a:r>
          </a:p>
        </p:txBody>
      </p:sp>
    </p:spTree>
    <p:extLst>
      <p:ext uri="{BB962C8B-B14F-4D97-AF65-F5344CB8AC3E}">
        <p14:creationId xmlns:p14="http://schemas.microsoft.com/office/powerpoint/2010/main" val="6805064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FC25F-C5B3-FBFF-585B-A34E165C4B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C11F41-5D86-E5F3-1A34-CF1673BF555A}"/>
              </a:ext>
            </a:extLst>
          </p:cNvPr>
          <p:cNvSpPr>
            <a:spLocks noGrp="1"/>
          </p:cNvSpPr>
          <p:nvPr>
            <p:ph type="title"/>
          </p:nvPr>
        </p:nvSpPr>
        <p:spPr/>
        <p:txBody>
          <a:bodyPr/>
          <a:lstStyle/>
          <a:p>
            <a:r>
              <a:rPr lang="en-US" dirty="0"/>
              <a:t>Dictionary</a:t>
            </a:r>
          </a:p>
        </p:txBody>
      </p:sp>
      <p:sp>
        <p:nvSpPr>
          <p:cNvPr id="3" name="Content Placeholder 2">
            <a:extLst>
              <a:ext uri="{FF2B5EF4-FFF2-40B4-BE49-F238E27FC236}">
                <a16:creationId xmlns:a16="http://schemas.microsoft.com/office/drawing/2014/main" id="{BBFDD436-4D2F-E2BB-0741-F608F1618BCD}"/>
              </a:ext>
            </a:extLst>
          </p:cNvPr>
          <p:cNvSpPr>
            <a:spLocks noGrp="1"/>
          </p:cNvSpPr>
          <p:nvPr>
            <p:ph idx="1"/>
          </p:nvPr>
        </p:nvSpPr>
        <p:spPr/>
        <p:txBody>
          <a:bodyPr>
            <a:normAutofit fontScale="77500" lnSpcReduction="20000"/>
          </a:bodyPr>
          <a:lstStyle/>
          <a:p>
            <a:r>
              <a:rPr lang="en-US" dirty="0"/>
              <a:t>One way to distinguish a dictionary from a list is to recognize that a dictionary is used to create an association, while a list is defined to place elements in order. </a:t>
            </a:r>
          </a:p>
          <a:p>
            <a:r>
              <a:rPr lang="en-US" dirty="0"/>
              <a:t>A Python dictionary is similar to the Webster Dictionary where words are associated </a:t>
            </a:r>
            <a:r>
              <a:rPr lang="en-US" dirty="0" err="1"/>
              <a:t>ot</a:t>
            </a:r>
            <a:r>
              <a:rPr lang="en-US" dirty="0"/>
              <a:t> their meaning. One can lookup a word in the dictionary and find its corresponding meaning. There are many real-world situations where data includes a set of key-value pairs such as menu item and price on a restaurant menu, customer and dollars spent in a customer transaction file, etc. </a:t>
            </a:r>
          </a:p>
          <a:p>
            <a:r>
              <a:rPr lang="en-US" dirty="0"/>
              <a:t>One way to construct a dictionary is using curly braces. </a:t>
            </a:r>
          </a:p>
          <a:p>
            <a:endParaRPr lang="en-US" dirty="0"/>
          </a:p>
        </p:txBody>
      </p:sp>
    </p:spTree>
    <p:extLst>
      <p:ext uri="{BB962C8B-B14F-4D97-AF65-F5344CB8AC3E}">
        <p14:creationId xmlns:p14="http://schemas.microsoft.com/office/powerpoint/2010/main" val="2126971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816F5-FB1F-BA5A-BBF8-E93CD54C19FF}"/>
              </a:ext>
            </a:extLst>
          </p:cNvPr>
          <p:cNvSpPr>
            <a:spLocks noGrp="1"/>
          </p:cNvSpPr>
          <p:nvPr>
            <p:ph type="title"/>
          </p:nvPr>
        </p:nvSpPr>
        <p:spPr/>
        <p:txBody>
          <a:bodyPr/>
          <a:lstStyle/>
          <a:p>
            <a:r>
              <a:rPr lang="en-US" dirty="0"/>
              <a:t>Set</a:t>
            </a:r>
          </a:p>
        </p:txBody>
      </p:sp>
      <p:sp>
        <p:nvSpPr>
          <p:cNvPr id="5" name="Text Placeholder 4">
            <a:extLst>
              <a:ext uri="{FF2B5EF4-FFF2-40B4-BE49-F238E27FC236}">
                <a16:creationId xmlns:a16="http://schemas.microsoft.com/office/drawing/2014/main" id="{267F16E4-C284-9318-8AC0-5393A032114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3828483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655A9-04F1-7FC4-8393-DA34A9657B17}"/>
              </a:ext>
            </a:extLst>
          </p:cNvPr>
          <p:cNvSpPr>
            <a:spLocks noGrp="1"/>
          </p:cNvSpPr>
          <p:nvPr>
            <p:ph type="title"/>
          </p:nvPr>
        </p:nvSpPr>
        <p:spPr/>
        <p:txBody>
          <a:bodyPr/>
          <a:lstStyle/>
          <a:p>
            <a:r>
              <a:rPr lang="en-US" dirty="0"/>
              <a:t>Set</a:t>
            </a:r>
          </a:p>
        </p:txBody>
      </p:sp>
      <p:sp>
        <p:nvSpPr>
          <p:cNvPr id="3" name="Content Placeholder 2">
            <a:extLst>
              <a:ext uri="{FF2B5EF4-FFF2-40B4-BE49-F238E27FC236}">
                <a16:creationId xmlns:a16="http://schemas.microsoft.com/office/drawing/2014/main" id="{B812F1FF-C7E9-8BEF-D1C1-CA88C2F94CF0}"/>
              </a:ext>
            </a:extLst>
          </p:cNvPr>
          <p:cNvSpPr>
            <a:spLocks noGrp="1"/>
          </p:cNvSpPr>
          <p:nvPr>
            <p:ph idx="1"/>
          </p:nvPr>
        </p:nvSpPr>
        <p:spPr/>
        <p:txBody>
          <a:bodyPr/>
          <a:lstStyle/>
          <a:p>
            <a:r>
              <a:rPr lang="en-US" dirty="0"/>
              <a:t>A set is an unordered collection of unique elements. </a:t>
            </a:r>
          </a:p>
          <a:p>
            <a:r>
              <a:rPr lang="en-US" dirty="0"/>
              <a:t>A set can be created using the set() or curly braces</a:t>
            </a:r>
          </a:p>
        </p:txBody>
      </p:sp>
    </p:spTree>
    <p:extLst>
      <p:ext uri="{BB962C8B-B14F-4D97-AF65-F5344CB8AC3E}">
        <p14:creationId xmlns:p14="http://schemas.microsoft.com/office/powerpoint/2010/main" val="13325628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B8DC7-1478-CA6E-CB68-688C24592166}"/>
              </a:ext>
            </a:extLst>
          </p:cNvPr>
          <p:cNvSpPr>
            <a:spLocks noGrp="1"/>
          </p:cNvSpPr>
          <p:nvPr>
            <p:ph type="title"/>
          </p:nvPr>
        </p:nvSpPr>
        <p:spPr/>
        <p:txBody>
          <a:bodyPr/>
          <a:lstStyle/>
          <a:p>
            <a:r>
              <a:rPr lang="en-US" dirty="0"/>
              <a:t>Class</a:t>
            </a:r>
          </a:p>
        </p:txBody>
      </p:sp>
      <p:sp>
        <p:nvSpPr>
          <p:cNvPr id="5" name="Text Placeholder 4">
            <a:extLst>
              <a:ext uri="{FF2B5EF4-FFF2-40B4-BE49-F238E27FC236}">
                <a16:creationId xmlns:a16="http://schemas.microsoft.com/office/drawing/2014/main" id="{FD20A31D-8DD6-F3E2-F42E-B12636ED9BA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9188981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36D77CE-70F4-481D-5F29-0A68BE6D17C0}"/>
              </a:ext>
            </a:extLst>
          </p:cNvPr>
          <p:cNvSpPr>
            <a:spLocks noGrp="1"/>
          </p:cNvSpPr>
          <p:nvPr>
            <p:ph type="title"/>
          </p:nvPr>
        </p:nvSpPr>
        <p:spPr/>
        <p:txBody>
          <a:bodyPr/>
          <a:lstStyle/>
          <a:p>
            <a:r>
              <a:rPr lang="en-US" dirty="0"/>
              <a:t>Class</a:t>
            </a:r>
          </a:p>
        </p:txBody>
      </p:sp>
      <p:sp>
        <p:nvSpPr>
          <p:cNvPr id="6" name="Content Placeholder 5">
            <a:extLst>
              <a:ext uri="{FF2B5EF4-FFF2-40B4-BE49-F238E27FC236}">
                <a16:creationId xmlns:a16="http://schemas.microsoft.com/office/drawing/2014/main" id="{42EF94BC-9615-C801-F770-3FAE3C035D33}"/>
              </a:ext>
            </a:extLst>
          </p:cNvPr>
          <p:cNvSpPr>
            <a:spLocks noGrp="1"/>
          </p:cNvSpPr>
          <p:nvPr>
            <p:ph idx="1"/>
          </p:nvPr>
        </p:nvSpPr>
        <p:spPr/>
        <p:txBody>
          <a:bodyPr>
            <a:normAutofit fontScale="77500" lnSpcReduction="20000"/>
          </a:bodyPr>
          <a:lstStyle/>
          <a:p>
            <a:r>
              <a:rPr lang="en-US" dirty="0"/>
              <a:t>A class is a blue print for creating objects.</a:t>
            </a:r>
          </a:p>
          <a:p>
            <a:r>
              <a:rPr lang="en-US" dirty="0"/>
              <a:t>A class defines the methods/functionalities that objects made from it will have</a:t>
            </a:r>
          </a:p>
          <a:p>
            <a:r>
              <a:rPr lang="en-US" dirty="0"/>
              <a:t>An object is called an instance of the class it is made from</a:t>
            </a:r>
          </a:p>
          <a:p>
            <a:r>
              <a:rPr lang="en-US" dirty="0"/>
              <a:t>The act of creating an object is called instantiation</a:t>
            </a:r>
          </a:p>
          <a:p>
            <a:r>
              <a:rPr lang="en-US" dirty="0"/>
              <a:t>Every time we work with an Python object, it has been "instantiated" from a Class.</a:t>
            </a:r>
          </a:p>
          <a:p>
            <a:r>
              <a:rPr lang="en-US" dirty="0"/>
              <a:t>Syntax options like "" or [] or {} are shortcuts for instantiation</a:t>
            </a:r>
          </a:p>
          <a:p>
            <a:r>
              <a:rPr lang="en-US" dirty="0"/>
              <a:t>For other classes, we will need to use class() syntax to instantiate an object</a:t>
            </a:r>
          </a:p>
        </p:txBody>
      </p:sp>
    </p:spTree>
    <p:extLst>
      <p:ext uri="{BB962C8B-B14F-4D97-AF65-F5344CB8AC3E}">
        <p14:creationId xmlns:p14="http://schemas.microsoft.com/office/powerpoint/2010/main" val="36636876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63C7D-8D5A-5577-EB1A-EE7670F3CB96}"/>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5D7DABB1-F391-AE55-23D6-77ECF9245780}"/>
              </a:ext>
            </a:extLst>
          </p:cNvPr>
          <p:cNvSpPr>
            <a:spLocks noGrp="1"/>
          </p:cNvSpPr>
          <p:nvPr>
            <p:ph idx="1"/>
          </p:nvPr>
        </p:nvSpPr>
        <p:spPr/>
        <p:txBody>
          <a:bodyPr>
            <a:normAutofit/>
          </a:bodyPr>
          <a:lstStyle/>
          <a:p>
            <a:r>
              <a:rPr lang="en-US" dirty="0"/>
              <a:t>In this section, we examined built-in data structures in Python. </a:t>
            </a:r>
          </a:p>
          <a:p>
            <a:pPr lvl="1"/>
            <a:r>
              <a:rPr lang="en-US" dirty="0"/>
              <a:t>Tuple</a:t>
            </a:r>
          </a:p>
          <a:p>
            <a:pPr lvl="1"/>
            <a:r>
              <a:rPr lang="en-US" dirty="0"/>
              <a:t>List</a:t>
            </a:r>
          </a:p>
          <a:p>
            <a:pPr lvl="1"/>
            <a:r>
              <a:rPr lang="en-US" dirty="0"/>
              <a:t>Dictionary</a:t>
            </a:r>
          </a:p>
          <a:p>
            <a:pPr lvl="1"/>
            <a:r>
              <a:rPr lang="en-US" dirty="0"/>
              <a:t>Set</a:t>
            </a:r>
          </a:p>
          <a:p>
            <a:pPr lvl="1"/>
            <a:r>
              <a:rPr lang="en-US" dirty="0"/>
              <a:t>Class</a:t>
            </a:r>
          </a:p>
          <a:p>
            <a:pPr lvl="1"/>
            <a:endParaRPr lang="en-US" dirty="0"/>
          </a:p>
        </p:txBody>
      </p:sp>
    </p:spTree>
    <p:extLst>
      <p:ext uri="{BB962C8B-B14F-4D97-AF65-F5344CB8AC3E}">
        <p14:creationId xmlns:p14="http://schemas.microsoft.com/office/powerpoint/2010/main" val="12297949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56412368-7E6B-4064-B6FA-72DF6DA0C2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7" name="Rectangle 26">
            <a:extLst>
              <a:ext uri="{FF2B5EF4-FFF2-40B4-BE49-F238E27FC236}">
                <a16:creationId xmlns:a16="http://schemas.microsoft.com/office/drawing/2014/main" id="{8014FE20-9BCC-4219-A8AD-B1C110BD55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Title 1">
            <a:extLst>
              <a:ext uri="{FF2B5EF4-FFF2-40B4-BE49-F238E27FC236}">
                <a16:creationId xmlns:a16="http://schemas.microsoft.com/office/drawing/2014/main" id="{7AB23ACD-2108-FA3F-5CE9-87BCC3C0F34B}"/>
              </a:ext>
            </a:extLst>
          </p:cNvPr>
          <p:cNvSpPr>
            <a:spLocks noGrp="1"/>
          </p:cNvSpPr>
          <p:nvPr>
            <p:ph type="ctrTitle"/>
          </p:nvPr>
        </p:nvSpPr>
        <p:spPr>
          <a:xfrm>
            <a:off x="1452617" y="976508"/>
            <a:ext cx="5525305" cy="2367221"/>
          </a:xfrm>
        </p:spPr>
        <p:txBody>
          <a:bodyPr>
            <a:normAutofit/>
          </a:bodyPr>
          <a:lstStyle/>
          <a:p>
            <a:r>
              <a:rPr lang="en-US" sz="5400" dirty="0"/>
              <a:t>NumPy</a:t>
            </a:r>
          </a:p>
        </p:txBody>
      </p:sp>
      <p:cxnSp>
        <p:nvCxnSpPr>
          <p:cNvPr id="28" name="Straight Connector 27">
            <a:extLst>
              <a:ext uri="{FF2B5EF4-FFF2-40B4-BE49-F238E27FC236}">
                <a16:creationId xmlns:a16="http://schemas.microsoft.com/office/drawing/2014/main" id="{A661C966-C6C8-4667-903D-E68521C357F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2618" y="3528543"/>
            <a:ext cx="5536119" cy="0"/>
          </a:xfrm>
          <a:prstGeom prst="line">
            <a:avLst/>
          </a:prstGeom>
          <a:ln w="31750"/>
        </p:spPr>
        <p:style>
          <a:lnRef idx="3">
            <a:schemeClr val="accent1"/>
          </a:lnRef>
          <a:fillRef idx="0">
            <a:schemeClr val="accent1"/>
          </a:fillRef>
          <a:effectRef idx="2">
            <a:schemeClr val="accent1"/>
          </a:effectRef>
          <a:fontRef idx="minor">
            <a:schemeClr val="tx1"/>
          </a:fontRef>
        </p:style>
      </p:cxnSp>
      <p:grpSp>
        <p:nvGrpSpPr>
          <p:cNvPr id="29" name="Group 28">
            <a:extLst>
              <a:ext uri="{FF2B5EF4-FFF2-40B4-BE49-F238E27FC236}">
                <a16:creationId xmlns:a16="http://schemas.microsoft.com/office/drawing/2014/main" id="{36439133-030D-427C-AADE-2B48B199178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77388" y="482171"/>
            <a:ext cx="4074533" cy="5149101"/>
            <a:chOff x="7477388" y="482171"/>
            <a:chExt cx="4074533" cy="5149101"/>
          </a:xfrm>
        </p:grpSpPr>
        <p:sp>
          <p:nvSpPr>
            <p:cNvPr id="17" name="Rectangle 16">
              <a:extLst>
                <a:ext uri="{FF2B5EF4-FFF2-40B4-BE49-F238E27FC236}">
                  <a16:creationId xmlns:a16="http://schemas.microsoft.com/office/drawing/2014/main" id="{2C11378B-6628-411A-9A79-CF10232D7D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77388" y="482171"/>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30" name="Rectangle 29">
              <a:extLst>
                <a:ext uri="{FF2B5EF4-FFF2-40B4-BE49-F238E27FC236}">
                  <a16:creationId xmlns:a16="http://schemas.microsoft.com/office/drawing/2014/main" id="{08E6BF6A-26B8-45E6-887E-FE78A7984F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47" y="812507"/>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grpSp>
      <p:sp>
        <p:nvSpPr>
          <p:cNvPr id="31" name="Rectangle 30">
            <a:extLst>
              <a:ext uri="{FF2B5EF4-FFF2-40B4-BE49-F238E27FC236}">
                <a16:creationId xmlns:a16="http://schemas.microsoft.com/office/drawing/2014/main" id="{82388B0B-738B-4313-8674-79D97E74A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51624" y="977965"/>
            <a:ext cx="3119444" cy="4135339"/>
          </a:xfrm>
          <a:prstGeom prst="rect">
            <a:avLst/>
          </a:prstGeom>
          <a:solidFill>
            <a:schemeClr val="bg1"/>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pic>
        <p:nvPicPr>
          <p:cNvPr id="5" name="Picture 4">
            <a:extLst>
              <a:ext uri="{FF2B5EF4-FFF2-40B4-BE49-F238E27FC236}">
                <a16:creationId xmlns:a16="http://schemas.microsoft.com/office/drawing/2014/main" id="{C4685D4C-31CC-689C-314D-6B4DFBA03D76}"/>
              </a:ext>
            </a:extLst>
          </p:cNvPr>
          <p:cNvPicPr>
            <a:picLocks noChangeAspect="1"/>
          </p:cNvPicPr>
          <p:nvPr/>
        </p:nvPicPr>
        <p:blipFill>
          <a:blip r:embed="rId2"/>
          <a:stretch>
            <a:fillRect/>
          </a:stretch>
        </p:blipFill>
        <p:spPr>
          <a:xfrm>
            <a:off x="8116373" y="1503839"/>
            <a:ext cx="2799103" cy="3091183"/>
          </a:xfrm>
          <a:prstGeom prst="rect">
            <a:avLst/>
          </a:prstGeom>
        </p:spPr>
      </p:pic>
      <p:pic>
        <p:nvPicPr>
          <p:cNvPr id="32" name="Picture 31">
            <a:extLst>
              <a:ext uri="{FF2B5EF4-FFF2-40B4-BE49-F238E27FC236}">
                <a16:creationId xmlns:a16="http://schemas.microsoft.com/office/drawing/2014/main" id="{6DF84359-5DD6-461B-9519-90AA2F46C1B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33" name="Straight Connector 32">
            <a:extLst>
              <a:ext uri="{FF2B5EF4-FFF2-40B4-BE49-F238E27FC236}">
                <a16:creationId xmlns:a16="http://schemas.microsoft.com/office/drawing/2014/main" id="{E90BC892-CE86-41EE-8A3B-2178D5170C7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6" name="Picture 5" descr="A blue and black logo&#10;&#10;AI-generated content may be incorrect.">
            <a:extLst>
              <a:ext uri="{FF2B5EF4-FFF2-40B4-BE49-F238E27FC236}">
                <a16:creationId xmlns:a16="http://schemas.microsoft.com/office/drawing/2014/main" id="{362EAD67-5E1C-6956-37A4-9D72BDA667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0932" y="3771109"/>
            <a:ext cx="3657599" cy="1647825"/>
          </a:xfrm>
          <a:prstGeom prst="rect">
            <a:avLst/>
          </a:prstGeom>
        </p:spPr>
      </p:pic>
    </p:spTree>
    <p:extLst>
      <p:ext uri="{BB962C8B-B14F-4D97-AF65-F5344CB8AC3E}">
        <p14:creationId xmlns:p14="http://schemas.microsoft.com/office/powerpoint/2010/main" val="12145982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F795B-C4D3-4BA3-806C-25FCC190A5EB}"/>
              </a:ext>
            </a:extLst>
          </p:cNvPr>
          <p:cNvSpPr>
            <a:spLocks noGrp="1"/>
          </p:cNvSpPr>
          <p:nvPr>
            <p:ph type="title"/>
          </p:nvPr>
        </p:nvSpPr>
        <p:spPr/>
        <p:txBody>
          <a:bodyPr/>
          <a:lstStyle/>
          <a:p>
            <a:r>
              <a:rPr lang="en-US" dirty="0"/>
              <a:t>NUMPY</a:t>
            </a:r>
          </a:p>
        </p:txBody>
      </p:sp>
      <p:sp>
        <p:nvSpPr>
          <p:cNvPr id="3" name="Content Placeholder 2">
            <a:extLst>
              <a:ext uri="{FF2B5EF4-FFF2-40B4-BE49-F238E27FC236}">
                <a16:creationId xmlns:a16="http://schemas.microsoft.com/office/drawing/2014/main" id="{F03A2274-3B51-87FA-19D8-CEE173676722}"/>
              </a:ext>
            </a:extLst>
          </p:cNvPr>
          <p:cNvSpPr>
            <a:spLocks noGrp="1"/>
          </p:cNvSpPr>
          <p:nvPr>
            <p:ph idx="1"/>
          </p:nvPr>
        </p:nvSpPr>
        <p:spPr/>
        <p:txBody>
          <a:bodyPr>
            <a:normAutofit/>
          </a:bodyPr>
          <a:lstStyle/>
          <a:p>
            <a:r>
              <a:rPr lang="en-US" dirty="0"/>
              <a:t>NumPy, short for "Numerical Python," is a fundamental package for scientific computing in Python. </a:t>
            </a:r>
          </a:p>
          <a:p>
            <a:r>
              <a:rPr lang="en-US" dirty="0"/>
              <a:t>It is widely used in data analysis due to its ability to handle large, multi-dimensional arrays and matrices, along with a variety of mathematical functions that can be applied to these arrays efficiently.</a:t>
            </a:r>
          </a:p>
        </p:txBody>
      </p:sp>
    </p:spTree>
    <p:extLst>
      <p:ext uri="{BB962C8B-B14F-4D97-AF65-F5344CB8AC3E}">
        <p14:creationId xmlns:p14="http://schemas.microsoft.com/office/powerpoint/2010/main" val="13898000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CABCAE3-64FC-4149-819F-2C1812824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pic>
        <p:nvPicPr>
          <p:cNvPr id="15" name="Picture 14">
            <a:extLst>
              <a:ext uri="{FF2B5EF4-FFF2-40B4-BE49-F238E27FC236}">
                <a16:creationId xmlns:a16="http://schemas.microsoft.com/office/drawing/2014/main" id="{012FDCFE-9AD2-4D8A-8CBF-B3AA37EBF6D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7" name="Straight Connector 16">
            <a:extLst>
              <a:ext uri="{FF2B5EF4-FFF2-40B4-BE49-F238E27FC236}">
                <a16:creationId xmlns:a16="http://schemas.microsoft.com/office/drawing/2014/main" id="{FBD463FC-4CA8-4FF4-85A3-AF9F4B98D2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56012FD-74A8-4C91-B318-435CF2B719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21" name="Rectangle 20">
            <a:extLst>
              <a:ext uri="{FF2B5EF4-FFF2-40B4-BE49-F238E27FC236}">
                <a16:creationId xmlns:a16="http://schemas.microsoft.com/office/drawing/2014/main" id="{1669046F-5838-4C7A-BBE8-A77F40FD9C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3" name="Rectangle 22">
            <a:extLst>
              <a:ext uri="{FF2B5EF4-FFF2-40B4-BE49-F238E27FC236}">
                <a16:creationId xmlns:a16="http://schemas.microsoft.com/office/drawing/2014/main" id="{2D5E6CDB-92ED-43A1-9491-C46E2C8E99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grpSp>
        <p:nvGrpSpPr>
          <p:cNvPr id="25" name="Group 24">
            <a:extLst>
              <a:ext uri="{FF2B5EF4-FFF2-40B4-BE49-F238E27FC236}">
                <a16:creationId xmlns:a16="http://schemas.microsoft.com/office/drawing/2014/main" id="{EBB966BC-DC49-4138-8DEF-B1CD1303392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2237" y="482171"/>
            <a:ext cx="6104331" cy="5149101"/>
            <a:chOff x="632237" y="482171"/>
            <a:chExt cx="6104331" cy="5149101"/>
          </a:xfrm>
        </p:grpSpPr>
        <p:sp>
          <p:nvSpPr>
            <p:cNvPr id="26" name="Rectangle 25">
              <a:extLst>
                <a:ext uri="{FF2B5EF4-FFF2-40B4-BE49-F238E27FC236}">
                  <a16:creationId xmlns:a16="http://schemas.microsoft.com/office/drawing/2014/main" id="{EDD0BD06-EC5B-4F0E-A221-562BC2BA6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237" y="482171"/>
              <a:ext cx="6104331"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7" name="Rectangle 26">
              <a:extLst>
                <a:ext uri="{FF2B5EF4-FFF2-40B4-BE49-F238E27FC236}">
                  <a16:creationId xmlns:a16="http://schemas.microsoft.com/office/drawing/2014/main" id="{634200B3-EC47-4A5B-A640-7118BF6AD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45296" y="812507"/>
              <a:ext cx="5471355"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grpSp>
      <p:sp>
        <p:nvSpPr>
          <p:cNvPr id="29" name="Rectangle 28">
            <a:extLst>
              <a:ext uri="{FF2B5EF4-FFF2-40B4-BE49-F238E27FC236}">
                <a16:creationId xmlns:a16="http://schemas.microsoft.com/office/drawing/2014/main" id="{23B9DAF8-7DB4-40CB-85F8-7E02F95C6C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7042" y="984450"/>
            <a:ext cx="5145580" cy="4135339"/>
          </a:xfrm>
          <a:prstGeom prst="rect">
            <a:avLst/>
          </a:prstGeom>
          <a:solidFill>
            <a:schemeClr val="bg1"/>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cxnSp>
        <p:nvCxnSpPr>
          <p:cNvPr id="31" name="Straight Connector 30">
            <a:extLst>
              <a:ext uri="{FF2B5EF4-FFF2-40B4-BE49-F238E27FC236}">
                <a16:creationId xmlns:a16="http://schemas.microsoft.com/office/drawing/2014/main" id="{606AED2C-61BA-485C-9DD4-B23B6280F9D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18029" y="1847088"/>
            <a:ext cx="3520368"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6" name="Content Placeholder 5">
            <a:extLst>
              <a:ext uri="{FF2B5EF4-FFF2-40B4-BE49-F238E27FC236}">
                <a16:creationId xmlns:a16="http://schemas.microsoft.com/office/drawing/2014/main" id="{CB930457-2828-195B-C79B-C8A1525747F8}"/>
              </a:ext>
            </a:extLst>
          </p:cNvPr>
          <p:cNvPicPr>
            <a:picLocks noGrp="1" noChangeAspect="1"/>
          </p:cNvPicPr>
          <p:nvPr>
            <p:ph sz="half" idx="1"/>
          </p:nvPr>
        </p:nvPicPr>
        <p:blipFill>
          <a:blip>
            <a:extLst>
              <a:ext uri="{96DAC541-7B7A-43D3-8B79-37D633B846F1}">
                <asvg:svgBlip xmlns:asvg="http://schemas.microsoft.com/office/drawing/2016/SVG/main" r:embed="rId4"/>
              </a:ext>
            </a:extLst>
          </a:blip>
          <a:stretch>
            <a:fillRect/>
          </a:stretch>
        </p:blipFill>
        <p:spPr>
          <a:xfrm>
            <a:off x="1271223" y="1240000"/>
            <a:ext cx="4825148" cy="3618861"/>
          </a:xfrm>
          <a:prstGeom prst="rect">
            <a:avLst/>
          </a:prstGeom>
        </p:spPr>
      </p:pic>
      <p:sp>
        <p:nvSpPr>
          <p:cNvPr id="8" name="Content Placeholder 7">
            <a:extLst>
              <a:ext uri="{FF2B5EF4-FFF2-40B4-BE49-F238E27FC236}">
                <a16:creationId xmlns:a16="http://schemas.microsoft.com/office/drawing/2014/main" id="{B33EDBDB-8424-6C6D-736D-53A327238D42}"/>
              </a:ext>
            </a:extLst>
          </p:cNvPr>
          <p:cNvSpPr>
            <a:spLocks noGrp="1"/>
          </p:cNvSpPr>
          <p:nvPr>
            <p:ph sz="half" idx="2"/>
          </p:nvPr>
        </p:nvSpPr>
        <p:spPr>
          <a:xfrm>
            <a:off x="7218028" y="2015732"/>
            <a:ext cx="4158184" cy="3450613"/>
          </a:xfrm>
        </p:spPr>
        <p:txBody>
          <a:bodyPr vert="horz" lIns="91440" tIns="45720" rIns="91440" bIns="45720" rtlCol="0" anchor="t">
            <a:normAutofit/>
          </a:bodyPr>
          <a:lstStyle/>
          <a:p>
            <a:pPr marL="0" indent="0">
              <a:buNone/>
            </a:pPr>
            <a:r>
              <a:rPr lang="en-US" sz="2400" dirty="0"/>
              <a:t>NumPy serves as the foundation for many other data science libraries such as Pandas, SciPy, and scikit-learn, making it an essential tool for anyone working with data in Python.</a:t>
            </a:r>
          </a:p>
          <a:p>
            <a:endParaRPr lang="en-US" dirty="0"/>
          </a:p>
        </p:txBody>
      </p:sp>
      <p:pic>
        <p:nvPicPr>
          <p:cNvPr id="33" name="Picture 32">
            <a:extLst>
              <a:ext uri="{FF2B5EF4-FFF2-40B4-BE49-F238E27FC236}">
                <a16:creationId xmlns:a16="http://schemas.microsoft.com/office/drawing/2014/main" id="{7EFCF05C-6070-460B-8E60-12BE3EFD19F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35" name="Straight Connector 34">
            <a:extLst>
              <a:ext uri="{FF2B5EF4-FFF2-40B4-BE49-F238E27FC236}">
                <a16:creationId xmlns:a16="http://schemas.microsoft.com/office/drawing/2014/main" id="{CFD731F1-726F-453E-9516-3058095DE99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0252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B374C-77BD-A12F-49F4-32E0E19DFAA8}"/>
              </a:ext>
            </a:extLst>
          </p:cNvPr>
          <p:cNvSpPr>
            <a:spLocks noGrp="1"/>
          </p:cNvSpPr>
          <p:nvPr>
            <p:ph type="title"/>
          </p:nvPr>
        </p:nvSpPr>
        <p:spPr/>
        <p:txBody>
          <a:bodyPr/>
          <a:lstStyle/>
          <a:p>
            <a:r>
              <a:rPr lang="en-US" dirty="0"/>
              <a:t>Key Features</a:t>
            </a:r>
          </a:p>
        </p:txBody>
      </p:sp>
      <p:sp>
        <p:nvSpPr>
          <p:cNvPr id="3" name="Content Placeholder 2">
            <a:extLst>
              <a:ext uri="{FF2B5EF4-FFF2-40B4-BE49-F238E27FC236}">
                <a16:creationId xmlns:a16="http://schemas.microsoft.com/office/drawing/2014/main" id="{62B3A774-0E6D-5452-4B62-77FBD9E87191}"/>
              </a:ext>
            </a:extLst>
          </p:cNvPr>
          <p:cNvSpPr>
            <a:spLocks noGrp="1"/>
          </p:cNvSpPr>
          <p:nvPr>
            <p:ph idx="1"/>
          </p:nvPr>
        </p:nvSpPr>
        <p:spPr/>
        <p:txBody>
          <a:bodyPr>
            <a:normAutofit fontScale="70000" lnSpcReduction="20000"/>
          </a:bodyPr>
          <a:lstStyle/>
          <a:p>
            <a:r>
              <a:rPr lang="en-US" dirty="0"/>
              <a:t>N-Dimensional Array Object (</a:t>
            </a:r>
            <a:r>
              <a:rPr lang="en-US" dirty="0" err="1"/>
              <a:t>ndarray</a:t>
            </a:r>
            <a:r>
              <a:rPr lang="en-US" dirty="0"/>
              <a:t>): Efficient handling of arrays (1D, 2D, and multi-dimensional).</a:t>
            </a:r>
          </a:p>
          <a:p>
            <a:r>
              <a:rPr lang="en-US" dirty="0"/>
              <a:t>Mathematical Functions: Fast mathematical operations on entire arrays of data without having to write loops</a:t>
            </a:r>
          </a:p>
          <a:p>
            <a:r>
              <a:rPr lang="en-US" dirty="0"/>
              <a:t>Data Simulation: Generate random numbers for simulations and sampling.</a:t>
            </a:r>
          </a:p>
          <a:p>
            <a:r>
              <a:rPr lang="en-US" dirty="0"/>
              <a:t>Linear Algebra Operations: Includes matrix operations, eigenvalue computation, and more.</a:t>
            </a:r>
          </a:p>
          <a:p>
            <a:r>
              <a:rPr lang="en-US" dirty="0"/>
              <a:t>Broadcasting: Simplifies operations on arrays of different shapes.</a:t>
            </a:r>
          </a:p>
          <a:p>
            <a:r>
              <a:rPr lang="en-US" dirty="0"/>
              <a:t>Integration with Other Libraries: Easily integrates with data science libraries like Pandas and SciPy.</a:t>
            </a:r>
          </a:p>
        </p:txBody>
      </p:sp>
    </p:spTree>
    <p:extLst>
      <p:ext uri="{BB962C8B-B14F-4D97-AF65-F5344CB8AC3E}">
        <p14:creationId xmlns:p14="http://schemas.microsoft.com/office/powerpoint/2010/main" val="19440530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5A45A-1318-2318-01BD-906BD6AAF5E9}"/>
              </a:ext>
            </a:extLst>
          </p:cNvPr>
          <p:cNvSpPr>
            <a:spLocks noGrp="1"/>
          </p:cNvSpPr>
          <p:nvPr>
            <p:ph type="title"/>
          </p:nvPr>
        </p:nvSpPr>
        <p:spPr/>
        <p:txBody>
          <a:bodyPr/>
          <a:lstStyle/>
          <a:p>
            <a:r>
              <a:rPr lang="en-US" dirty="0"/>
              <a:t>Our Focus</a:t>
            </a:r>
          </a:p>
        </p:txBody>
      </p:sp>
      <p:sp>
        <p:nvSpPr>
          <p:cNvPr id="3" name="Content Placeholder 2">
            <a:extLst>
              <a:ext uri="{FF2B5EF4-FFF2-40B4-BE49-F238E27FC236}">
                <a16:creationId xmlns:a16="http://schemas.microsoft.com/office/drawing/2014/main" id="{1E7C9FFD-AFA8-7F76-0E0C-99714028B9B1}"/>
              </a:ext>
            </a:extLst>
          </p:cNvPr>
          <p:cNvSpPr>
            <a:spLocks noGrp="1"/>
          </p:cNvSpPr>
          <p:nvPr>
            <p:ph idx="1"/>
          </p:nvPr>
        </p:nvSpPr>
        <p:spPr/>
        <p:txBody>
          <a:bodyPr>
            <a:normAutofit/>
          </a:bodyPr>
          <a:lstStyle/>
          <a:p>
            <a:pPr marL="0" indent="0">
              <a:buNone/>
            </a:pPr>
            <a:r>
              <a:rPr lang="en-US" sz="2400" dirty="0"/>
              <a:t>We will focus only on features directly related to data analysis</a:t>
            </a:r>
            <a:endParaRPr lang="en-US" dirty="0"/>
          </a:p>
          <a:p>
            <a:pPr lvl="1"/>
            <a:r>
              <a:rPr lang="en-US" dirty="0"/>
              <a:t>Fast array-based operations for data wrangling such as </a:t>
            </a:r>
            <a:r>
              <a:rPr lang="en-US" dirty="0" err="1"/>
              <a:t>subsetting</a:t>
            </a:r>
            <a:r>
              <a:rPr lang="en-US" dirty="0"/>
              <a:t>, filtering, transformation, and cleaning.</a:t>
            </a:r>
          </a:p>
          <a:p>
            <a:pPr lvl="1"/>
            <a:r>
              <a:rPr lang="en-US" dirty="0"/>
              <a:t>Functions for performing descriptive statistics such as mean, and standard deviation.</a:t>
            </a:r>
          </a:p>
          <a:p>
            <a:pPr lvl="1"/>
            <a:r>
              <a:rPr lang="en-US" dirty="0"/>
              <a:t>Ways to combine and restructure datasets.</a:t>
            </a:r>
          </a:p>
        </p:txBody>
      </p:sp>
    </p:spTree>
    <p:extLst>
      <p:ext uri="{BB962C8B-B14F-4D97-AF65-F5344CB8AC3E}">
        <p14:creationId xmlns:p14="http://schemas.microsoft.com/office/powerpoint/2010/main" val="34436548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F8E76-8D45-1457-28CE-F6826DF69AB3}"/>
              </a:ext>
            </a:extLst>
          </p:cNvPr>
          <p:cNvSpPr>
            <a:spLocks noGrp="1"/>
          </p:cNvSpPr>
          <p:nvPr>
            <p:ph type="title"/>
          </p:nvPr>
        </p:nvSpPr>
        <p:spPr/>
        <p:txBody>
          <a:bodyPr/>
          <a:lstStyle/>
          <a:p>
            <a:r>
              <a:rPr lang="en-US" dirty="0"/>
              <a:t>Creating an Array</a:t>
            </a:r>
          </a:p>
        </p:txBody>
      </p:sp>
      <p:pic>
        <p:nvPicPr>
          <p:cNvPr id="6" name="Content Placeholder 5">
            <a:extLst>
              <a:ext uri="{FF2B5EF4-FFF2-40B4-BE49-F238E27FC236}">
                <a16:creationId xmlns:a16="http://schemas.microsoft.com/office/drawing/2014/main" id="{84A3B13A-9E4F-66B7-B927-B2102A97B343}"/>
              </a:ext>
            </a:extLst>
          </p:cNvPr>
          <p:cNvPicPr>
            <a:picLocks noGrp="1" noChangeAspect="1"/>
          </p:cNvPicPr>
          <p:nvPr>
            <p:ph idx="1"/>
          </p:nvPr>
        </p:nvPicPr>
        <p:blipFill>
          <a:blip>
            <a:extLst>
              <a:ext uri="{96DAC541-7B7A-43D3-8B79-37D633B846F1}">
                <asvg:svgBlip xmlns:asvg="http://schemas.microsoft.com/office/drawing/2016/SVG/main" r:embed="rId3"/>
              </a:ext>
            </a:extLst>
          </a:blip>
          <a:stretch>
            <a:fillRect/>
          </a:stretch>
        </p:blipFill>
        <p:spPr>
          <a:xfrm>
            <a:off x="1371600" y="2011829"/>
            <a:ext cx="9011024" cy="4505512"/>
          </a:xfrm>
        </p:spPr>
      </p:pic>
    </p:spTree>
    <p:extLst>
      <p:ext uri="{BB962C8B-B14F-4D97-AF65-F5344CB8AC3E}">
        <p14:creationId xmlns:p14="http://schemas.microsoft.com/office/powerpoint/2010/main" val="31747096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8A5C9-65B9-7ADB-BE85-22F8F8DECE84}"/>
              </a:ext>
            </a:extLst>
          </p:cNvPr>
          <p:cNvSpPr>
            <a:spLocks noGrp="1"/>
          </p:cNvSpPr>
          <p:nvPr>
            <p:ph type="title"/>
          </p:nvPr>
        </p:nvSpPr>
        <p:spPr/>
        <p:txBody>
          <a:bodyPr/>
          <a:lstStyle/>
          <a:p>
            <a:r>
              <a:rPr lang="en-US" dirty="0"/>
              <a:t>Array</a:t>
            </a:r>
          </a:p>
        </p:txBody>
      </p:sp>
      <p:sp>
        <p:nvSpPr>
          <p:cNvPr id="3" name="Content Placeholder 2">
            <a:extLst>
              <a:ext uri="{FF2B5EF4-FFF2-40B4-BE49-F238E27FC236}">
                <a16:creationId xmlns:a16="http://schemas.microsoft.com/office/drawing/2014/main" id="{0AD1160A-5779-716B-FE11-7E12DDDC9E06}"/>
              </a:ext>
            </a:extLst>
          </p:cNvPr>
          <p:cNvSpPr>
            <a:spLocks noGrp="1"/>
          </p:cNvSpPr>
          <p:nvPr>
            <p:ph idx="1"/>
          </p:nvPr>
        </p:nvSpPr>
        <p:spPr/>
        <p:txBody>
          <a:bodyPr/>
          <a:lstStyle/>
          <a:p>
            <a:pPr marL="0" indent="0">
              <a:buNone/>
            </a:pPr>
            <a:r>
              <a:rPr lang="en-US" dirty="0"/>
              <a:t>Names for these arrays in Math</a:t>
            </a:r>
          </a:p>
          <a:p>
            <a:pPr lvl="1"/>
            <a:r>
              <a:rPr lang="en-US" dirty="0"/>
              <a:t>1d array = vector</a:t>
            </a:r>
          </a:p>
          <a:p>
            <a:pPr lvl="1"/>
            <a:r>
              <a:rPr lang="en-US" dirty="0"/>
              <a:t>2d array = matrix</a:t>
            </a:r>
          </a:p>
          <a:p>
            <a:pPr lvl="1"/>
            <a:r>
              <a:rPr lang="en-US" dirty="0"/>
              <a:t>3d+ array = tensor</a:t>
            </a:r>
          </a:p>
        </p:txBody>
      </p:sp>
    </p:spTree>
    <p:extLst>
      <p:ext uri="{BB962C8B-B14F-4D97-AF65-F5344CB8AC3E}">
        <p14:creationId xmlns:p14="http://schemas.microsoft.com/office/powerpoint/2010/main" val="13610956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BA4CF-8F44-1472-4D98-7801549FC2B5}"/>
              </a:ext>
            </a:extLst>
          </p:cNvPr>
          <p:cNvSpPr>
            <a:spLocks noGrp="1"/>
          </p:cNvSpPr>
          <p:nvPr>
            <p:ph type="title"/>
          </p:nvPr>
        </p:nvSpPr>
        <p:spPr/>
        <p:txBody>
          <a:bodyPr/>
          <a:lstStyle/>
          <a:p>
            <a:r>
              <a:rPr lang="en-US" dirty="0"/>
              <a:t>Creating an Array</a:t>
            </a:r>
          </a:p>
        </p:txBody>
      </p:sp>
      <p:sp>
        <p:nvSpPr>
          <p:cNvPr id="3" name="Content Placeholder 2">
            <a:extLst>
              <a:ext uri="{FF2B5EF4-FFF2-40B4-BE49-F238E27FC236}">
                <a16:creationId xmlns:a16="http://schemas.microsoft.com/office/drawing/2014/main" id="{1B84FB4B-6DC6-3C53-A9CD-C88CCFF0E079}"/>
              </a:ext>
            </a:extLst>
          </p:cNvPr>
          <p:cNvSpPr>
            <a:spLocks noGrp="1"/>
          </p:cNvSpPr>
          <p:nvPr>
            <p:ph idx="1"/>
          </p:nvPr>
        </p:nvSpPr>
        <p:spPr/>
        <p:txBody>
          <a:bodyPr>
            <a:normAutofit/>
          </a:bodyPr>
          <a:lstStyle/>
          <a:p>
            <a:r>
              <a:rPr lang="en-US" dirty="0" err="1"/>
              <a:t>Numpy</a:t>
            </a:r>
            <a:r>
              <a:rPr lang="en-US" dirty="0"/>
              <a:t> arrays can be created by</a:t>
            </a:r>
          </a:p>
          <a:p>
            <a:pPr lvl="1"/>
            <a:r>
              <a:rPr lang="en-US" dirty="0"/>
              <a:t>From a list using </a:t>
            </a:r>
            <a:r>
              <a:rPr lang="en-US" dirty="0" err="1"/>
              <a:t>np.array</a:t>
            </a:r>
            <a:r>
              <a:rPr lang="en-US" dirty="0"/>
              <a:t>()</a:t>
            </a:r>
          </a:p>
          <a:p>
            <a:pPr lvl="1"/>
            <a:r>
              <a:rPr lang="en-US" dirty="0"/>
              <a:t>shortcut functions like </a:t>
            </a:r>
            <a:r>
              <a:rPr lang="en-US" dirty="0" err="1"/>
              <a:t>np.arange</a:t>
            </a:r>
            <a:r>
              <a:rPr lang="en-US" dirty="0"/>
              <a:t>, </a:t>
            </a:r>
            <a:r>
              <a:rPr lang="en-US" dirty="0" err="1"/>
              <a:t>np.zeros</a:t>
            </a:r>
            <a:r>
              <a:rPr lang="en-US" dirty="0"/>
              <a:t>(), </a:t>
            </a:r>
            <a:r>
              <a:rPr lang="en-US" dirty="0" err="1"/>
              <a:t>np.full</a:t>
            </a:r>
            <a:r>
              <a:rPr lang="en-US" dirty="0"/>
              <a:t>()</a:t>
            </a:r>
          </a:p>
        </p:txBody>
      </p:sp>
    </p:spTree>
    <p:extLst>
      <p:ext uri="{BB962C8B-B14F-4D97-AF65-F5344CB8AC3E}">
        <p14:creationId xmlns:p14="http://schemas.microsoft.com/office/powerpoint/2010/main" val="973327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42422-AAB5-D8A1-A6F0-6998BA77EA96}"/>
              </a:ext>
            </a:extLst>
          </p:cNvPr>
          <p:cNvSpPr>
            <a:spLocks noGrp="1"/>
          </p:cNvSpPr>
          <p:nvPr>
            <p:ph type="title"/>
          </p:nvPr>
        </p:nvSpPr>
        <p:spPr/>
        <p:txBody>
          <a:bodyPr/>
          <a:lstStyle/>
          <a:p>
            <a:r>
              <a:rPr lang="en-US" dirty="0"/>
              <a:t>Dimensions</a:t>
            </a:r>
          </a:p>
        </p:txBody>
      </p:sp>
      <p:sp>
        <p:nvSpPr>
          <p:cNvPr id="3" name="Content Placeholder 2">
            <a:extLst>
              <a:ext uri="{FF2B5EF4-FFF2-40B4-BE49-F238E27FC236}">
                <a16:creationId xmlns:a16="http://schemas.microsoft.com/office/drawing/2014/main" id="{AF3C8C08-82C6-5BE7-FA9F-95BFA56DAD81}"/>
              </a:ext>
            </a:extLst>
          </p:cNvPr>
          <p:cNvSpPr>
            <a:spLocks noGrp="1"/>
          </p:cNvSpPr>
          <p:nvPr>
            <p:ph idx="1"/>
          </p:nvPr>
        </p:nvSpPr>
        <p:spPr/>
        <p:txBody>
          <a:bodyPr>
            <a:normAutofit fontScale="92500" lnSpcReduction="10000"/>
          </a:bodyPr>
          <a:lstStyle/>
          <a:p>
            <a:r>
              <a:rPr lang="en-US" dirty="0"/>
              <a:t>NumPy is an </a:t>
            </a:r>
            <a:r>
              <a:rPr lang="en-US" dirty="0" err="1"/>
              <a:t>ndarray</a:t>
            </a:r>
            <a:r>
              <a:rPr lang="en-US" dirty="0"/>
              <a:t>, which means it can have one or more dimensions</a:t>
            </a:r>
          </a:p>
          <a:p>
            <a:pPr lvl="1"/>
            <a:r>
              <a:rPr lang="en-US" dirty="0"/>
              <a:t>.shape contains information about dimensionality</a:t>
            </a:r>
          </a:p>
          <a:p>
            <a:r>
              <a:rPr lang="en-US" dirty="0"/>
              <a:t>An n-dimensional array can be thought of as a set of elements on which a structure is imposed</a:t>
            </a:r>
          </a:p>
          <a:p>
            <a:r>
              <a:rPr lang="en-US" dirty="0"/>
              <a:t>Shape can be changed</a:t>
            </a:r>
          </a:p>
          <a:p>
            <a:pPr lvl="1"/>
            <a:r>
              <a:rPr lang="en-US" dirty="0"/>
              <a:t>.flatten() converts an n-dimensional array into a 1-d array- </a:t>
            </a:r>
          </a:p>
          <a:p>
            <a:pPr lvl="1"/>
            <a:r>
              <a:rPr lang="en-US" dirty="0"/>
              <a:t>.reshape() can change the structure (if it is possible)</a:t>
            </a:r>
          </a:p>
        </p:txBody>
      </p:sp>
    </p:spTree>
    <p:extLst>
      <p:ext uri="{BB962C8B-B14F-4D97-AF65-F5344CB8AC3E}">
        <p14:creationId xmlns:p14="http://schemas.microsoft.com/office/powerpoint/2010/main" val="33987290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104A8-4CB3-2534-9A97-BEAC018B749C}"/>
              </a:ext>
            </a:extLst>
          </p:cNvPr>
          <p:cNvSpPr>
            <a:spLocks noGrp="1"/>
          </p:cNvSpPr>
          <p:nvPr>
            <p:ph type="title"/>
          </p:nvPr>
        </p:nvSpPr>
        <p:spPr/>
        <p:txBody>
          <a:bodyPr/>
          <a:lstStyle/>
          <a:p>
            <a:r>
              <a:rPr lang="en-US" dirty="0" err="1"/>
              <a:t>dtype</a:t>
            </a:r>
            <a:endParaRPr lang="en-US" dirty="0"/>
          </a:p>
        </p:txBody>
      </p:sp>
      <p:sp>
        <p:nvSpPr>
          <p:cNvPr id="3" name="Content Placeholder 2">
            <a:extLst>
              <a:ext uri="{FF2B5EF4-FFF2-40B4-BE49-F238E27FC236}">
                <a16:creationId xmlns:a16="http://schemas.microsoft.com/office/drawing/2014/main" id="{CA1F62BC-812C-2BF5-F3C7-CD97CAECB976}"/>
              </a:ext>
            </a:extLst>
          </p:cNvPr>
          <p:cNvSpPr>
            <a:spLocks noGrp="1"/>
          </p:cNvSpPr>
          <p:nvPr>
            <p:ph idx="1"/>
          </p:nvPr>
        </p:nvSpPr>
        <p:spPr>
          <a:xfrm>
            <a:off x="1451580" y="2015732"/>
            <a:ext cx="5515277" cy="4243554"/>
          </a:xfrm>
        </p:spPr>
        <p:txBody>
          <a:bodyPr>
            <a:normAutofit fontScale="85000" lnSpcReduction="20000"/>
          </a:bodyPr>
          <a:lstStyle/>
          <a:p>
            <a:r>
              <a:rPr lang="en-US" dirty="0"/>
              <a:t>The computational speed of NumPy arrays is attributable to the type constraints. </a:t>
            </a:r>
          </a:p>
          <a:p>
            <a:r>
              <a:rPr lang="en-US" dirty="0"/>
              <a:t>A NumPy array can only contain data of a single type. </a:t>
            </a:r>
          </a:p>
          <a:p>
            <a:r>
              <a:rPr lang="en-US" dirty="0"/>
              <a:t>Unless explicitly specified, the array structure will infer a suitable data type for the array that it creates. </a:t>
            </a:r>
          </a:p>
          <a:p>
            <a:r>
              <a:rPr lang="en-US" dirty="0"/>
              <a:t>The data type is stored in a special </a:t>
            </a:r>
            <a:r>
              <a:rPr lang="en-US" i="1" dirty="0" err="1"/>
              <a:t>dtype</a:t>
            </a:r>
            <a:r>
              <a:rPr lang="en-US" dirty="0"/>
              <a:t> </a:t>
            </a:r>
            <a:r>
              <a:rPr lang="en-US" dirty="0" err="1"/>
              <a:t>medadata</a:t>
            </a:r>
            <a:r>
              <a:rPr lang="en-US" dirty="0"/>
              <a:t> object. </a:t>
            </a:r>
          </a:p>
        </p:txBody>
      </p:sp>
      <p:pic>
        <p:nvPicPr>
          <p:cNvPr id="4" name="Content Placeholder 3">
            <a:extLst>
              <a:ext uri="{FF2B5EF4-FFF2-40B4-BE49-F238E27FC236}">
                <a16:creationId xmlns:a16="http://schemas.microsoft.com/office/drawing/2014/main" id="{33E1CF9F-2B81-5967-1EA9-BCEF3654D696}"/>
              </a:ext>
            </a:extLst>
          </p:cNvPr>
          <p:cNvPicPr>
            <a:picLocks noChangeAspect="1"/>
          </p:cNvPicPr>
          <p:nvPr/>
        </p:nvPicPr>
        <p:blipFill>
          <a:blip r:embed="rId2"/>
          <a:stretch>
            <a:fillRect/>
          </a:stretch>
        </p:blipFill>
        <p:spPr>
          <a:xfrm>
            <a:off x="7064829" y="43735"/>
            <a:ext cx="5072743" cy="6729841"/>
          </a:xfrm>
          <a:prstGeom prst="rect">
            <a:avLst/>
          </a:prstGeom>
        </p:spPr>
      </p:pic>
      <p:sp>
        <p:nvSpPr>
          <p:cNvPr id="5" name="TextBox 4">
            <a:extLst>
              <a:ext uri="{FF2B5EF4-FFF2-40B4-BE49-F238E27FC236}">
                <a16:creationId xmlns:a16="http://schemas.microsoft.com/office/drawing/2014/main" id="{1D46BABE-0F72-208A-2F8A-91C97851D973}"/>
              </a:ext>
            </a:extLst>
          </p:cNvPr>
          <p:cNvSpPr txBox="1"/>
          <p:nvPr/>
        </p:nvSpPr>
        <p:spPr>
          <a:xfrm>
            <a:off x="7195457" y="6531429"/>
            <a:ext cx="3722914"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Gill Sans MT" panose="020B0502020104020203"/>
                <a:ea typeface="+mn-ea"/>
                <a:cs typeface="+mn-cs"/>
              </a:rPr>
              <a:t>Source: Python Data Science Handbook, Jake VanderPlas</a:t>
            </a:r>
          </a:p>
        </p:txBody>
      </p:sp>
    </p:spTree>
    <p:extLst>
      <p:ext uri="{BB962C8B-B14F-4D97-AF65-F5344CB8AC3E}">
        <p14:creationId xmlns:p14="http://schemas.microsoft.com/office/powerpoint/2010/main" val="134826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5A83F-390D-6CB8-C20B-B40BAB84D124}"/>
              </a:ext>
            </a:extLst>
          </p:cNvPr>
          <p:cNvSpPr>
            <a:spLocks noGrp="1"/>
          </p:cNvSpPr>
          <p:nvPr>
            <p:ph type="title"/>
          </p:nvPr>
        </p:nvSpPr>
        <p:spPr/>
        <p:txBody>
          <a:bodyPr/>
          <a:lstStyle/>
          <a:p>
            <a:r>
              <a:rPr lang="en-US" dirty="0" err="1"/>
              <a:t>Numpy</a:t>
            </a:r>
            <a:r>
              <a:rPr lang="en-US" dirty="0"/>
              <a:t> vs. </a:t>
            </a:r>
          </a:p>
        </p:txBody>
      </p:sp>
      <p:pic>
        <p:nvPicPr>
          <p:cNvPr id="4" name="Content Placeholder 3">
            <a:extLst>
              <a:ext uri="{FF2B5EF4-FFF2-40B4-BE49-F238E27FC236}">
                <a16:creationId xmlns:a16="http://schemas.microsoft.com/office/drawing/2014/main" id="{9DD021B3-BCDC-6713-CF30-C634F3ACDAA3}"/>
              </a:ext>
            </a:extLst>
          </p:cNvPr>
          <p:cNvPicPr>
            <a:picLocks noGrp="1" noChangeAspect="1"/>
          </p:cNvPicPr>
          <p:nvPr>
            <p:ph idx="1"/>
          </p:nvPr>
        </p:nvPicPr>
        <p:blipFill>
          <a:blip r:embed="rId2"/>
          <a:stretch>
            <a:fillRect/>
          </a:stretch>
        </p:blipFill>
        <p:spPr>
          <a:xfrm>
            <a:off x="6825343" y="183660"/>
            <a:ext cx="4955713" cy="6574581"/>
          </a:xfrm>
          <a:prstGeom prst="rect">
            <a:avLst/>
          </a:prstGeom>
        </p:spPr>
      </p:pic>
    </p:spTree>
    <p:extLst>
      <p:ext uri="{BB962C8B-B14F-4D97-AF65-F5344CB8AC3E}">
        <p14:creationId xmlns:p14="http://schemas.microsoft.com/office/powerpoint/2010/main" val="982102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A717D-1725-15FC-82B5-E4F60AFD9654}"/>
              </a:ext>
            </a:extLst>
          </p:cNvPr>
          <p:cNvSpPr>
            <a:spLocks noGrp="1"/>
          </p:cNvSpPr>
          <p:nvPr>
            <p:ph type="title"/>
          </p:nvPr>
        </p:nvSpPr>
        <p:spPr/>
        <p:txBody>
          <a:bodyPr/>
          <a:lstStyle/>
          <a:p>
            <a:r>
              <a:rPr lang="en-US" dirty="0" err="1"/>
              <a:t>Dtype</a:t>
            </a:r>
            <a:endParaRPr lang="en-US" dirty="0"/>
          </a:p>
        </p:txBody>
      </p:sp>
      <p:sp>
        <p:nvSpPr>
          <p:cNvPr id="3" name="Content Placeholder 2">
            <a:extLst>
              <a:ext uri="{FF2B5EF4-FFF2-40B4-BE49-F238E27FC236}">
                <a16:creationId xmlns:a16="http://schemas.microsoft.com/office/drawing/2014/main" id="{99BC8F93-E902-F9CF-6A6A-A0E7159FE073}"/>
              </a:ext>
            </a:extLst>
          </p:cNvPr>
          <p:cNvSpPr>
            <a:spLocks noGrp="1"/>
          </p:cNvSpPr>
          <p:nvPr>
            <p:ph idx="1"/>
          </p:nvPr>
        </p:nvSpPr>
        <p:spPr/>
        <p:txBody>
          <a:bodyPr>
            <a:normAutofit fontScale="70000" lnSpcReduction="20000"/>
          </a:bodyPr>
          <a:lstStyle/>
          <a:p>
            <a:r>
              <a:rPr lang="en-US" dirty="0"/>
              <a:t>Here are some of the commonly used data types (</a:t>
            </a:r>
            <a:r>
              <a:rPr lang="en-US" dirty="0" err="1"/>
              <a:t>dtype</a:t>
            </a:r>
            <a:r>
              <a:rPr lang="en-US" dirty="0"/>
              <a:t>).</a:t>
            </a:r>
          </a:p>
          <a:p>
            <a:pPr lvl="1"/>
            <a:r>
              <a:rPr lang="en-US" dirty="0"/>
              <a:t>Numbers: int8, int16, int32, int64, float16, float32, float64, float128. Python as such only allows int and float!</a:t>
            </a:r>
          </a:p>
          <a:p>
            <a:pPr lvl="1"/>
            <a:r>
              <a:rPr lang="en-US" dirty="0"/>
              <a:t>Complex: complex64, complex128, complex256</a:t>
            </a:r>
          </a:p>
          <a:p>
            <a:pPr lvl="1"/>
            <a:r>
              <a:rPr lang="en-US" dirty="0"/>
              <a:t>Boolean: bool</a:t>
            </a:r>
          </a:p>
          <a:p>
            <a:pPr lvl="1"/>
            <a:r>
              <a:rPr lang="en-US" dirty="0"/>
              <a:t>Text: &lt;U6, &lt;U12, etc. This is a </a:t>
            </a:r>
            <a:r>
              <a:rPr lang="en-US" dirty="0" err="1"/>
              <a:t>unicode</a:t>
            </a:r>
            <a:r>
              <a:rPr lang="en-US" dirty="0"/>
              <a:t> str with a length constraint, as opposed to generic str</a:t>
            </a:r>
          </a:p>
          <a:p>
            <a:r>
              <a:rPr lang="en-US" dirty="0"/>
              <a:t>It is possible to convert one data type to another using </a:t>
            </a:r>
            <a:r>
              <a:rPr lang="en-US" dirty="0" err="1"/>
              <a:t>astype</a:t>
            </a:r>
            <a:r>
              <a:rPr lang="en-US" dirty="0"/>
              <a:t>()</a:t>
            </a:r>
          </a:p>
          <a:p>
            <a:r>
              <a:rPr lang="en-US" dirty="0"/>
              <a:t>Since NumPy arrays can contain data of only one type, if NumPy encounters elements of </a:t>
            </a:r>
            <a:r>
              <a:rPr lang="en-US" dirty="0" err="1"/>
              <a:t>differnt</a:t>
            </a:r>
            <a:r>
              <a:rPr lang="en-US" dirty="0"/>
              <a:t> types, it will convert them to the same type.</a:t>
            </a:r>
          </a:p>
          <a:p>
            <a:r>
              <a:rPr lang="en-US" dirty="0"/>
              <a:t>If a </a:t>
            </a:r>
            <a:r>
              <a:rPr lang="en-US" dirty="0" err="1"/>
              <a:t>dtype</a:t>
            </a:r>
            <a:r>
              <a:rPr lang="en-US" dirty="0"/>
              <a:t> argument is not passed, NumPy will examine the data and automatically assign a data type </a:t>
            </a:r>
          </a:p>
        </p:txBody>
      </p:sp>
    </p:spTree>
    <p:extLst>
      <p:ext uri="{BB962C8B-B14F-4D97-AF65-F5344CB8AC3E}">
        <p14:creationId xmlns:p14="http://schemas.microsoft.com/office/powerpoint/2010/main" val="1943877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8EDDF-5589-B4DF-7B0E-01BB6554A9E0}"/>
              </a:ext>
            </a:extLst>
          </p:cNvPr>
          <p:cNvSpPr>
            <a:spLocks noGrp="1"/>
          </p:cNvSpPr>
          <p:nvPr>
            <p:ph type="title"/>
          </p:nvPr>
        </p:nvSpPr>
        <p:spPr/>
        <p:txBody>
          <a:bodyPr/>
          <a:lstStyle/>
          <a:p>
            <a:r>
              <a:rPr lang="en-US" dirty="0"/>
              <a:t>Element Wise operation</a:t>
            </a:r>
          </a:p>
        </p:txBody>
      </p:sp>
      <p:sp>
        <p:nvSpPr>
          <p:cNvPr id="3" name="Content Placeholder 2">
            <a:extLst>
              <a:ext uri="{FF2B5EF4-FFF2-40B4-BE49-F238E27FC236}">
                <a16:creationId xmlns:a16="http://schemas.microsoft.com/office/drawing/2014/main" id="{4A87B4DF-BB9F-CC3A-7AFB-BB770DD0DF22}"/>
              </a:ext>
            </a:extLst>
          </p:cNvPr>
          <p:cNvSpPr>
            <a:spLocks noGrp="1"/>
          </p:cNvSpPr>
          <p:nvPr>
            <p:ph idx="1"/>
          </p:nvPr>
        </p:nvSpPr>
        <p:spPr/>
        <p:txBody>
          <a:bodyPr>
            <a:normAutofit/>
          </a:bodyPr>
          <a:lstStyle/>
          <a:p>
            <a:r>
              <a:rPr lang="en-US" dirty="0"/>
              <a:t>Lists in Python do not do elementwise operation. </a:t>
            </a:r>
          </a:p>
          <a:p>
            <a:r>
              <a:rPr lang="en-US" dirty="0"/>
              <a:t>On the other hand, for </a:t>
            </a:r>
            <a:r>
              <a:rPr lang="en-US" dirty="0" err="1"/>
              <a:t>numpy</a:t>
            </a:r>
            <a:r>
              <a:rPr lang="en-US" dirty="0"/>
              <a:t> arrays, elementwise operation is the default.</a:t>
            </a:r>
          </a:p>
          <a:p>
            <a:r>
              <a:rPr lang="en-US" dirty="0"/>
              <a:t>Elementwise operations can be conducted using loops, but loops in Python are slow. Instead </a:t>
            </a:r>
            <a:r>
              <a:rPr lang="en-US" dirty="0" err="1"/>
              <a:t>numpy</a:t>
            </a:r>
            <a:r>
              <a:rPr lang="en-US" dirty="0"/>
              <a:t> conducts vectorized operations where in the operation is carried out in C, a low-level language. </a:t>
            </a:r>
          </a:p>
        </p:txBody>
      </p:sp>
    </p:spTree>
    <p:extLst>
      <p:ext uri="{BB962C8B-B14F-4D97-AF65-F5344CB8AC3E}">
        <p14:creationId xmlns:p14="http://schemas.microsoft.com/office/powerpoint/2010/main" val="39108774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2375C-5874-3217-57C8-1A7409FB4D55}"/>
              </a:ext>
            </a:extLst>
          </p:cNvPr>
          <p:cNvSpPr>
            <a:spLocks noGrp="1"/>
          </p:cNvSpPr>
          <p:nvPr>
            <p:ph type="title"/>
          </p:nvPr>
        </p:nvSpPr>
        <p:spPr/>
        <p:txBody>
          <a:bodyPr/>
          <a:lstStyle/>
          <a:p>
            <a:r>
              <a:rPr lang="en-US" dirty="0"/>
              <a:t>Broadcasting</a:t>
            </a:r>
          </a:p>
        </p:txBody>
      </p:sp>
      <p:sp>
        <p:nvSpPr>
          <p:cNvPr id="3" name="Content Placeholder 2">
            <a:extLst>
              <a:ext uri="{FF2B5EF4-FFF2-40B4-BE49-F238E27FC236}">
                <a16:creationId xmlns:a16="http://schemas.microsoft.com/office/drawing/2014/main" id="{E6FB766E-9590-EE31-F2A9-C390377C999F}"/>
              </a:ext>
            </a:extLst>
          </p:cNvPr>
          <p:cNvSpPr>
            <a:spLocks noGrp="1"/>
          </p:cNvSpPr>
          <p:nvPr>
            <p:ph idx="1"/>
          </p:nvPr>
        </p:nvSpPr>
        <p:spPr/>
        <p:txBody>
          <a:bodyPr>
            <a:normAutofit fontScale="70000" lnSpcReduction="20000"/>
          </a:bodyPr>
          <a:lstStyle/>
          <a:p>
            <a:r>
              <a:rPr lang="en-US" dirty="0"/>
              <a:t>In math, one can only add two matrices of the same shape. </a:t>
            </a:r>
            <a:r>
              <a:rPr lang="en-US" dirty="0" err="1"/>
              <a:t>Numpy</a:t>
            </a:r>
            <a:r>
              <a:rPr lang="en-US" dirty="0"/>
              <a:t> will allow addition of arrays of different shapes (but not any shape).</a:t>
            </a:r>
          </a:p>
          <a:p>
            <a:r>
              <a:rPr lang="en-US" dirty="0" err="1"/>
              <a:t>Numpy</a:t>
            </a:r>
            <a:r>
              <a:rPr lang="en-US" dirty="0"/>
              <a:t> can only add compatible arrays. The arrays should have the same shape except for one dimension. The dimension that does not have the same value must be 1. </a:t>
            </a:r>
            <a:r>
              <a:rPr lang="en-US" dirty="0" err="1"/>
              <a:t>E.g</a:t>
            </a:r>
            <a:r>
              <a:rPr lang="en-US" dirty="0"/>
              <a:t>, (4,4) and (4,1); (4,4) and (1,1); but not (4,4) and (2,2)</a:t>
            </a:r>
          </a:p>
          <a:p>
            <a:r>
              <a:rPr lang="en-US" dirty="0"/>
              <a:t>Python will not reshape an array under the hood to make the computation work. For instance, if you intend to use a vertical array, then you would need to explicitly reshape a 1-d array with n elements to an array with shape, (n,1).</a:t>
            </a:r>
          </a:p>
          <a:p>
            <a:r>
              <a:rPr lang="en-US" dirty="0"/>
              <a:t>Broadcasting can be done for all arithmetic operations, not only addition.</a:t>
            </a:r>
          </a:p>
          <a:p>
            <a:r>
              <a:rPr lang="en-US" dirty="0"/>
              <a:t>Broadcasting is similar to (but less inclusive) than recycling behavior in R.</a:t>
            </a:r>
          </a:p>
        </p:txBody>
      </p:sp>
    </p:spTree>
    <p:extLst>
      <p:ext uri="{BB962C8B-B14F-4D97-AF65-F5344CB8AC3E}">
        <p14:creationId xmlns:p14="http://schemas.microsoft.com/office/powerpoint/2010/main" val="36207338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E29F3-9A2A-A597-CC13-9233EC987E74}"/>
              </a:ext>
            </a:extLst>
          </p:cNvPr>
          <p:cNvSpPr>
            <a:spLocks noGrp="1"/>
          </p:cNvSpPr>
          <p:nvPr>
            <p:ph type="title"/>
          </p:nvPr>
        </p:nvSpPr>
        <p:spPr/>
        <p:txBody>
          <a:bodyPr/>
          <a:lstStyle/>
          <a:p>
            <a:r>
              <a:rPr lang="en-US" dirty="0"/>
              <a:t>Broadcasting</a:t>
            </a:r>
          </a:p>
        </p:txBody>
      </p:sp>
      <p:pic>
        <p:nvPicPr>
          <p:cNvPr id="5" name="Content Placeholder 4">
            <a:extLst>
              <a:ext uri="{FF2B5EF4-FFF2-40B4-BE49-F238E27FC236}">
                <a16:creationId xmlns:a16="http://schemas.microsoft.com/office/drawing/2014/main" id="{29DAF9DE-53C0-C14E-EE8C-443468982983}"/>
              </a:ext>
            </a:extLst>
          </p:cNvPr>
          <p:cNvPicPr>
            <a:picLocks noGrp="1" noChangeAspect="1"/>
          </p:cNvPicPr>
          <p:nvPr>
            <p:ph idx="1"/>
          </p:nvPr>
        </p:nvPicPr>
        <p:blipFill>
          <a:blip r:embed="rId2"/>
          <a:stretch>
            <a:fillRect/>
          </a:stretch>
        </p:blipFill>
        <p:spPr>
          <a:xfrm>
            <a:off x="3801467" y="2016125"/>
            <a:ext cx="4903391" cy="3922713"/>
          </a:xfrm>
          <a:prstGeom prst="rect">
            <a:avLst/>
          </a:prstGeom>
        </p:spPr>
      </p:pic>
    </p:spTree>
    <p:extLst>
      <p:ext uri="{BB962C8B-B14F-4D97-AF65-F5344CB8AC3E}">
        <p14:creationId xmlns:p14="http://schemas.microsoft.com/office/powerpoint/2010/main" val="20182012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85DE8-31FB-5E7A-FC37-40D9192CEA61}"/>
              </a:ext>
            </a:extLst>
          </p:cNvPr>
          <p:cNvSpPr>
            <a:spLocks noGrp="1"/>
          </p:cNvSpPr>
          <p:nvPr>
            <p:ph type="title"/>
          </p:nvPr>
        </p:nvSpPr>
        <p:spPr/>
        <p:txBody>
          <a:bodyPr/>
          <a:lstStyle/>
          <a:p>
            <a:r>
              <a:rPr lang="en-US" dirty="0"/>
              <a:t>Indexing 1-d array</a:t>
            </a:r>
          </a:p>
        </p:txBody>
      </p:sp>
      <p:sp>
        <p:nvSpPr>
          <p:cNvPr id="3" name="Content Placeholder 2">
            <a:extLst>
              <a:ext uri="{FF2B5EF4-FFF2-40B4-BE49-F238E27FC236}">
                <a16:creationId xmlns:a16="http://schemas.microsoft.com/office/drawing/2014/main" id="{89AABAD2-BD3C-4F4F-DD27-BD09E307CDF6}"/>
              </a:ext>
            </a:extLst>
          </p:cNvPr>
          <p:cNvSpPr>
            <a:spLocks noGrp="1"/>
          </p:cNvSpPr>
          <p:nvPr>
            <p:ph idx="1"/>
          </p:nvPr>
        </p:nvSpPr>
        <p:spPr/>
        <p:txBody>
          <a:bodyPr/>
          <a:lstStyle/>
          <a:p>
            <a:r>
              <a:rPr lang="en-US" dirty="0"/>
              <a:t>Extract a single element by specifying location index in square brackets</a:t>
            </a:r>
          </a:p>
          <a:p>
            <a:r>
              <a:rPr lang="en-US" dirty="0" err="1"/>
              <a:t>numpy</a:t>
            </a:r>
            <a:r>
              <a:rPr lang="en-US" dirty="0"/>
              <a:t> array indices begin at 0</a:t>
            </a:r>
          </a:p>
          <a:p>
            <a:r>
              <a:rPr lang="en-US" dirty="0"/>
              <a:t>Negative indices count from the end of the array</a:t>
            </a:r>
          </a:p>
        </p:txBody>
      </p:sp>
    </p:spTree>
    <p:extLst>
      <p:ext uri="{BB962C8B-B14F-4D97-AF65-F5344CB8AC3E}">
        <p14:creationId xmlns:p14="http://schemas.microsoft.com/office/powerpoint/2010/main" val="9564727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AD340-BE1C-36AA-8BFB-13599DB9F4C6}"/>
              </a:ext>
            </a:extLst>
          </p:cNvPr>
          <p:cNvSpPr>
            <a:spLocks noGrp="1"/>
          </p:cNvSpPr>
          <p:nvPr>
            <p:ph type="title"/>
          </p:nvPr>
        </p:nvSpPr>
        <p:spPr/>
        <p:txBody>
          <a:bodyPr/>
          <a:lstStyle/>
          <a:p>
            <a:r>
              <a:rPr lang="en-US" dirty="0"/>
              <a:t>Indexing and Slicing</a:t>
            </a:r>
          </a:p>
        </p:txBody>
      </p:sp>
      <p:pic>
        <p:nvPicPr>
          <p:cNvPr id="13" name="Picture 12">
            <a:extLst>
              <a:ext uri="{FF2B5EF4-FFF2-40B4-BE49-F238E27FC236}">
                <a16:creationId xmlns:a16="http://schemas.microsoft.com/office/drawing/2014/main" id="{CA6F32BC-2E98-2138-6F8B-5A4028E8A39E}"/>
              </a:ext>
            </a:extLst>
          </p:cNvPr>
          <p:cNvPicPr>
            <a:picLocks noChangeAspect="1"/>
          </p:cNvPicPr>
          <p:nvPr/>
        </p:nvPicPr>
        <p:blipFill>
          <a:blip r:embed="rId3"/>
          <a:stretch>
            <a:fillRect/>
          </a:stretch>
        </p:blipFill>
        <p:spPr>
          <a:xfrm>
            <a:off x="1078738" y="2764028"/>
            <a:ext cx="14942726" cy="1828800"/>
          </a:xfrm>
          <a:prstGeom prst="rect">
            <a:avLst/>
          </a:prstGeom>
        </p:spPr>
      </p:pic>
    </p:spTree>
    <p:extLst>
      <p:ext uri="{BB962C8B-B14F-4D97-AF65-F5344CB8AC3E}">
        <p14:creationId xmlns:p14="http://schemas.microsoft.com/office/powerpoint/2010/main" val="14344556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7F3DE-2EC2-F1BA-0C53-5E1ABF288A39}"/>
              </a:ext>
            </a:extLst>
          </p:cNvPr>
          <p:cNvSpPr>
            <a:spLocks noGrp="1"/>
          </p:cNvSpPr>
          <p:nvPr>
            <p:ph type="title"/>
          </p:nvPr>
        </p:nvSpPr>
        <p:spPr/>
        <p:txBody>
          <a:bodyPr>
            <a:normAutofit fontScale="90000"/>
          </a:bodyPr>
          <a:lstStyle/>
          <a:p>
            <a:r>
              <a:rPr lang="en-US" dirty="0"/>
              <a:t>Indexing 2-d array</a:t>
            </a:r>
            <a:br>
              <a:rPr lang="en-US" dirty="0"/>
            </a:br>
            <a:endParaRPr lang="en-US" dirty="0"/>
          </a:p>
        </p:txBody>
      </p:sp>
      <p:sp>
        <p:nvSpPr>
          <p:cNvPr id="3" name="Content Placeholder 2">
            <a:extLst>
              <a:ext uri="{FF2B5EF4-FFF2-40B4-BE49-F238E27FC236}">
                <a16:creationId xmlns:a16="http://schemas.microsoft.com/office/drawing/2014/main" id="{2AF5C61D-EFEF-733E-9263-1EFCC7A7094D}"/>
              </a:ext>
            </a:extLst>
          </p:cNvPr>
          <p:cNvSpPr>
            <a:spLocks noGrp="1"/>
          </p:cNvSpPr>
          <p:nvPr>
            <p:ph idx="1"/>
          </p:nvPr>
        </p:nvSpPr>
        <p:spPr/>
        <p:txBody>
          <a:bodyPr/>
          <a:lstStyle/>
          <a:p>
            <a:r>
              <a:rPr lang="en-US" dirty="0"/>
              <a:t>Extract a single element by specifying row and column location index in square brackets separated by a comma</a:t>
            </a:r>
          </a:p>
          <a:p>
            <a:r>
              <a:rPr lang="en-US" dirty="0" err="1"/>
              <a:t>numpy</a:t>
            </a:r>
            <a:r>
              <a:rPr lang="en-US" dirty="0"/>
              <a:t> array indices begin at 0</a:t>
            </a:r>
          </a:p>
          <a:p>
            <a:r>
              <a:rPr lang="en-US" dirty="0"/>
              <a:t>Negative indices count from the end of the array</a:t>
            </a:r>
          </a:p>
        </p:txBody>
      </p:sp>
    </p:spTree>
    <p:extLst>
      <p:ext uri="{BB962C8B-B14F-4D97-AF65-F5344CB8AC3E}">
        <p14:creationId xmlns:p14="http://schemas.microsoft.com/office/powerpoint/2010/main" val="34311847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954C8-B4D6-9753-EA2B-DBA3681AE71A}"/>
              </a:ext>
            </a:extLst>
          </p:cNvPr>
          <p:cNvSpPr>
            <a:spLocks noGrp="1"/>
          </p:cNvSpPr>
          <p:nvPr>
            <p:ph type="title"/>
          </p:nvPr>
        </p:nvSpPr>
        <p:spPr/>
        <p:txBody>
          <a:bodyPr/>
          <a:lstStyle/>
          <a:p>
            <a:r>
              <a:rPr lang="en-US" dirty="0"/>
              <a:t>Indexing and Slicing</a:t>
            </a:r>
          </a:p>
        </p:txBody>
      </p:sp>
      <p:pic>
        <p:nvPicPr>
          <p:cNvPr id="5" name="Content Placeholder 4">
            <a:extLst>
              <a:ext uri="{FF2B5EF4-FFF2-40B4-BE49-F238E27FC236}">
                <a16:creationId xmlns:a16="http://schemas.microsoft.com/office/drawing/2014/main" id="{0C16D494-53BD-9D30-531B-C2B62CEDBFF7}"/>
              </a:ext>
            </a:extLst>
          </p:cNvPr>
          <p:cNvPicPr>
            <a:picLocks noGrp="1" noChangeAspect="1"/>
          </p:cNvPicPr>
          <p:nvPr>
            <p:ph idx="1"/>
          </p:nvPr>
        </p:nvPicPr>
        <p:blipFill>
          <a:blip r:embed="rId3"/>
          <a:stretch>
            <a:fillRect/>
          </a:stretch>
        </p:blipFill>
        <p:spPr>
          <a:xfrm>
            <a:off x="3557760" y="1924684"/>
            <a:ext cx="7162697" cy="5212080"/>
          </a:xfrm>
          <a:prstGeom prst="rect">
            <a:avLst/>
          </a:prstGeom>
        </p:spPr>
      </p:pic>
    </p:spTree>
    <p:extLst>
      <p:ext uri="{BB962C8B-B14F-4D97-AF65-F5344CB8AC3E}">
        <p14:creationId xmlns:p14="http://schemas.microsoft.com/office/powerpoint/2010/main" val="4032123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88CDD-4917-D4C1-E6B8-1E026E6337D1}"/>
              </a:ext>
            </a:extLst>
          </p:cNvPr>
          <p:cNvSpPr>
            <a:spLocks noGrp="1"/>
          </p:cNvSpPr>
          <p:nvPr>
            <p:ph type="title"/>
          </p:nvPr>
        </p:nvSpPr>
        <p:spPr/>
        <p:txBody>
          <a:bodyPr/>
          <a:lstStyle/>
          <a:p>
            <a:r>
              <a:rPr lang="en-US" dirty="0"/>
              <a:t>Slicing 1-d array</a:t>
            </a:r>
          </a:p>
        </p:txBody>
      </p:sp>
      <p:sp>
        <p:nvSpPr>
          <p:cNvPr id="3" name="Content Placeholder 2">
            <a:extLst>
              <a:ext uri="{FF2B5EF4-FFF2-40B4-BE49-F238E27FC236}">
                <a16:creationId xmlns:a16="http://schemas.microsoft.com/office/drawing/2014/main" id="{9ACECEBA-8C48-00F6-2882-00AEA13DC55B}"/>
              </a:ext>
            </a:extLst>
          </p:cNvPr>
          <p:cNvSpPr>
            <a:spLocks noGrp="1"/>
          </p:cNvSpPr>
          <p:nvPr>
            <p:ph idx="1"/>
          </p:nvPr>
        </p:nvSpPr>
        <p:spPr/>
        <p:txBody>
          <a:bodyPr>
            <a:normAutofit/>
          </a:bodyPr>
          <a:lstStyle/>
          <a:p>
            <a:r>
              <a:rPr lang="en-US" dirty="0"/>
              <a:t>Extract more than one element</a:t>
            </a:r>
          </a:p>
          <a:p>
            <a:r>
              <a:rPr lang="en-US" dirty="0"/>
              <a:t>Specify more than one location as a list. [[1,2,3,4]]</a:t>
            </a:r>
          </a:p>
          <a:p>
            <a:r>
              <a:rPr lang="en-US" dirty="0"/>
              <a:t>Specify a range of locations. First element is included, last is not. [1:5]</a:t>
            </a:r>
          </a:p>
          <a:p>
            <a:r>
              <a:rPr lang="en-US" dirty="0"/>
              <a:t>Use colon to refer to everything before, or everything after. [:5]</a:t>
            </a:r>
          </a:p>
          <a:p>
            <a:r>
              <a:rPr lang="en-US" dirty="0"/>
              <a:t>Negative indexes to begin from the end [-9:-5]</a:t>
            </a:r>
          </a:p>
        </p:txBody>
      </p:sp>
    </p:spTree>
    <p:extLst>
      <p:ext uri="{BB962C8B-B14F-4D97-AF65-F5344CB8AC3E}">
        <p14:creationId xmlns:p14="http://schemas.microsoft.com/office/powerpoint/2010/main" val="34453466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115DF-CDBD-E309-7669-CD56C51B8F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9DAEF0-651F-6707-22A4-1F95AD97469E}"/>
              </a:ext>
            </a:extLst>
          </p:cNvPr>
          <p:cNvSpPr>
            <a:spLocks noGrp="1"/>
          </p:cNvSpPr>
          <p:nvPr>
            <p:ph type="title"/>
          </p:nvPr>
        </p:nvSpPr>
        <p:spPr/>
        <p:txBody>
          <a:bodyPr/>
          <a:lstStyle/>
          <a:p>
            <a:r>
              <a:rPr lang="en-US" dirty="0"/>
              <a:t>Slicing 2-d array</a:t>
            </a:r>
          </a:p>
        </p:txBody>
      </p:sp>
      <p:sp>
        <p:nvSpPr>
          <p:cNvPr id="3" name="Content Placeholder 2">
            <a:extLst>
              <a:ext uri="{FF2B5EF4-FFF2-40B4-BE49-F238E27FC236}">
                <a16:creationId xmlns:a16="http://schemas.microsoft.com/office/drawing/2014/main" id="{6B67CC75-7730-1629-E694-F66A82241F66}"/>
              </a:ext>
            </a:extLst>
          </p:cNvPr>
          <p:cNvSpPr>
            <a:spLocks noGrp="1"/>
          </p:cNvSpPr>
          <p:nvPr>
            <p:ph idx="1"/>
          </p:nvPr>
        </p:nvSpPr>
        <p:spPr/>
        <p:txBody>
          <a:bodyPr>
            <a:normAutofit fontScale="92500"/>
          </a:bodyPr>
          <a:lstStyle/>
          <a:p>
            <a:r>
              <a:rPr lang="en-US" dirty="0"/>
              <a:t>Extract more than one element</a:t>
            </a:r>
          </a:p>
          <a:p>
            <a:r>
              <a:rPr lang="en-US" dirty="0"/>
              <a:t>Specify a range of locations for rows and columns. First element is included, last is not. [3:7,3:7]</a:t>
            </a:r>
          </a:p>
          <a:p>
            <a:r>
              <a:rPr lang="en-US" dirty="0"/>
              <a:t>Use colon to refer to everything before, or everything after. [:3,7:]</a:t>
            </a:r>
          </a:p>
          <a:p>
            <a:r>
              <a:rPr lang="en-US" dirty="0"/>
              <a:t>Negative indexes to begin from the end [-10:-7,-3:]</a:t>
            </a:r>
          </a:p>
          <a:p>
            <a:r>
              <a:rPr lang="en-US" dirty="0"/>
              <a:t>You can also slice with steps by specifying the start, end and step value separated by colon. [3:7:3,3:7:3]</a:t>
            </a:r>
          </a:p>
        </p:txBody>
      </p:sp>
    </p:spTree>
    <p:extLst>
      <p:ext uri="{BB962C8B-B14F-4D97-AF65-F5344CB8AC3E}">
        <p14:creationId xmlns:p14="http://schemas.microsoft.com/office/powerpoint/2010/main" val="7187867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8F9EA-05D3-9586-3281-5917780C24FC}"/>
              </a:ext>
            </a:extLst>
          </p:cNvPr>
          <p:cNvSpPr>
            <a:spLocks noGrp="1"/>
          </p:cNvSpPr>
          <p:nvPr>
            <p:ph type="title"/>
          </p:nvPr>
        </p:nvSpPr>
        <p:spPr/>
        <p:txBody>
          <a:bodyPr/>
          <a:lstStyle/>
          <a:p>
            <a:r>
              <a:rPr lang="en-US" dirty="0"/>
              <a:t>Boolean Indexing</a:t>
            </a:r>
          </a:p>
        </p:txBody>
      </p:sp>
      <p:sp>
        <p:nvSpPr>
          <p:cNvPr id="3" name="Content Placeholder 2">
            <a:extLst>
              <a:ext uri="{FF2B5EF4-FFF2-40B4-BE49-F238E27FC236}">
                <a16:creationId xmlns:a16="http://schemas.microsoft.com/office/drawing/2014/main" id="{D0075AF8-B2F9-E7D2-2720-AA278F0CACEC}"/>
              </a:ext>
            </a:extLst>
          </p:cNvPr>
          <p:cNvSpPr>
            <a:spLocks noGrp="1"/>
          </p:cNvSpPr>
          <p:nvPr>
            <p:ph idx="1"/>
          </p:nvPr>
        </p:nvSpPr>
        <p:spPr/>
        <p:txBody>
          <a:bodyPr/>
          <a:lstStyle/>
          <a:p>
            <a:r>
              <a:rPr lang="en-US" dirty="0"/>
              <a:t>Arrays are subset based on a condition.</a:t>
            </a:r>
          </a:p>
        </p:txBody>
      </p:sp>
    </p:spTree>
    <p:extLst>
      <p:ext uri="{BB962C8B-B14F-4D97-AF65-F5344CB8AC3E}">
        <p14:creationId xmlns:p14="http://schemas.microsoft.com/office/powerpoint/2010/main" val="42523371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25BDB-52C5-96A2-537E-46CB1752682D}"/>
              </a:ext>
            </a:extLst>
          </p:cNvPr>
          <p:cNvSpPr>
            <a:spLocks noGrp="1"/>
          </p:cNvSpPr>
          <p:nvPr>
            <p:ph type="title"/>
          </p:nvPr>
        </p:nvSpPr>
        <p:spPr/>
        <p:txBody>
          <a:bodyPr/>
          <a:lstStyle/>
          <a:p>
            <a:r>
              <a:rPr lang="en-US" dirty="0"/>
              <a:t>Find and replace</a:t>
            </a:r>
          </a:p>
        </p:txBody>
      </p:sp>
      <p:sp>
        <p:nvSpPr>
          <p:cNvPr id="3" name="Content Placeholder 2">
            <a:extLst>
              <a:ext uri="{FF2B5EF4-FFF2-40B4-BE49-F238E27FC236}">
                <a16:creationId xmlns:a16="http://schemas.microsoft.com/office/drawing/2014/main" id="{6F80BC50-C20B-A25B-E2BC-18219CA4A355}"/>
              </a:ext>
            </a:extLst>
          </p:cNvPr>
          <p:cNvSpPr>
            <a:spLocks noGrp="1"/>
          </p:cNvSpPr>
          <p:nvPr>
            <p:ph idx="1"/>
          </p:nvPr>
        </p:nvSpPr>
        <p:spPr/>
        <p:txBody>
          <a:bodyPr/>
          <a:lstStyle/>
          <a:p>
            <a:r>
              <a:rPr lang="en-US" dirty="0" err="1"/>
              <a:t>numpy.where</a:t>
            </a:r>
            <a:r>
              <a:rPr lang="en-US" dirty="0"/>
              <a:t>() can be used to find an element. It can also be used to find an element and replace it with another</a:t>
            </a:r>
          </a:p>
        </p:txBody>
      </p:sp>
    </p:spTree>
    <p:extLst>
      <p:ext uri="{BB962C8B-B14F-4D97-AF65-F5344CB8AC3E}">
        <p14:creationId xmlns:p14="http://schemas.microsoft.com/office/powerpoint/2010/main" val="41615818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34869-C6BE-A6ED-F3FA-3B5D0D678946}"/>
              </a:ext>
            </a:extLst>
          </p:cNvPr>
          <p:cNvSpPr>
            <a:spLocks noGrp="1"/>
          </p:cNvSpPr>
          <p:nvPr>
            <p:ph type="title"/>
          </p:nvPr>
        </p:nvSpPr>
        <p:spPr/>
        <p:txBody>
          <a:bodyPr/>
          <a:lstStyle/>
          <a:p>
            <a:r>
              <a:rPr lang="en-US" dirty="0"/>
              <a:t>Useful </a:t>
            </a:r>
            <a:r>
              <a:rPr lang="en-US" dirty="0" err="1"/>
              <a:t>numpy</a:t>
            </a:r>
            <a:r>
              <a:rPr lang="en-US" dirty="0"/>
              <a:t> methods</a:t>
            </a:r>
          </a:p>
        </p:txBody>
      </p:sp>
      <p:sp>
        <p:nvSpPr>
          <p:cNvPr id="3" name="Content Placeholder 2">
            <a:extLst>
              <a:ext uri="{FF2B5EF4-FFF2-40B4-BE49-F238E27FC236}">
                <a16:creationId xmlns:a16="http://schemas.microsoft.com/office/drawing/2014/main" id="{655C752F-590C-49D5-CF1D-27FE3F102210}"/>
              </a:ext>
            </a:extLst>
          </p:cNvPr>
          <p:cNvSpPr>
            <a:spLocks noGrp="1"/>
          </p:cNvSpPr>
          <p:nvPr>
            <p:ph idx="1"/>
          </p:nvPr>
        </p:nvSpPr>
        <p:spPr/>
        <p:txBody>
          <a:bodyPr>
            <a:normAutofit fontScale="85000" lnSpcReduction="20000"/>
          </a:bodyPr>
          <a:lstStyle/>
          <a:p>
            <a:r>
              <a:rPr lang="en-US" dirty="0"/>
              <a:t>.concatenate(): To combine two or more arrays with compatible shapes. Does not work with 1d arrays.</a:t>
            </a:r>
          </a:p>
          <a:p>
            <a:r>
              <a:rPr lang="en-US" dirty="0"/>
              <a:t>.delete(): Remove a column or row</a:t>
            </a:r>
          </a:p>
          <a:p>
            <a:r>
              <a:rPr lang="en-US" dirty="0"/>
              <a:t>.sort(): Sort a </a:t>
            </a:r>
            <a:r>
              <a:rPr lang="en-US" dirty="0" err="1"/>
              <a:t>ndarray</a:t>
            </a:r>
            <a:r>
              <a:rPr lang="en-US" dirty="0"/>
              <a:t> by rows (axis = 0) or columns (axis = 1)</a:t>
            </a:r>
          </a:p>
          <a:p>
            <a:r>
              <a:rPr lang="en-US" dirty="0"/>
              <a:t>.transpose(): swaps axes, essentially reshaping the data</a:t>
            </a:r>
          </a:p>
          <a:p>
            <a:r>
              <a:rPr lang="en-US" dirty="0"/>
              <a:t>.flip(): reverses the order of elements along a given axis</a:t>
            </a:r>
          </a:p>
          <a:p>
            <a:r>
              <a:rPr lang="en-US" dirty="0"/>
              <a:t>.stack(): Combine arrays by adding a new dimension</a:t>
            </a:r>
          </a:p>
          <a:p>
            <a:r>
              <a:rPr lang="en-US" dirty="0"/>
              <a:t>.split(): Split an array into multiple subarrays</a:t>
            </a:r>
          </a:p>
        </p:txBody>
      </p:sp>
    </p:spTree>
    <p:extLst>
      <p:ext uri="{BB962C8B-B14F-4D97-AF65-F5344CB8AC3E}">
        <p14:creationId xmlns:p14="http://schemas.microsoft.com/office/powerpoint/2010/main" val="237636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2E1D5-060F-6E69-F164-50354BE53FDC}"/>
              </a:ext>
            </a:extLst>
          </p:cNvPr>
          <p:cNvSpPr>
            <a:spLocks noGrp="1"/>
          </p:cNvSpPr>
          <p:nvPr>
            <p:ph type="title"/>
          </p:nvPr>
        </p:nvSpPr>
        <p:spPr/>
        <p:txBody>
          <a:bodyPr/>
          <a:lstStyle/>
          <a:p>
            <a:r>
              <a:rPr lang="en-US" dirty="0"/>
              <a:t>Vectorized operations and </a:t>
            </a:r>
            <a:r>
              <a:rPr lang="en-US" dirty="0" err="1"/>
              <a:t>ufuncs</a:t>
            </a:r>
            <a:endParaRPr lang="en-US" dirty="0"/>
          </a:p>
        </p:txBody>
      </p:sp>
      <p:sp>
        <p:nvSpPr>
          <p:cNvPr id="3" name="Content Placeholder 2">
            <a:extLst>
              <a:ext uri="{FF2B5EF4-FFF2-40B4-BE49-F238E27FC236}">
                <a16:creationId xmlns:a16="http://schemas.microsoft.com/office/drawing/2014/main" id="{BA613BA0-32AA-BFA8-2A41-6D51A3DB819B}"/>
              </a:ext>
            </a:extLst>
          </p:cNvPr>
          <p:cNvSpPr>
            <a:spLocks noGrp="1"/>
          </p:cNvSpPr>
          <p:nvPr>
            <p:ph idx="1"/>
          </p:nvPr>
        </p:nvSpPr>
        <p:spPr/>
        <p:txBody>
          <a:bodyPr>
            <a:normAutofit fontScale="70000" lnSpcReduction="20000"/>
          </a:bodyPr>
          <a:lstStyle/>
          <a:p>
            <a:r>
              <a:rPr lang="en-US" dirty="0"/>
              <a:t>Python’s default implementation (known as </a:t>
            </a:r>
            <a:r>
              <a:rPr lang="en-US" dirty="0" err="1"/>
              <a:t>CPython</a:t>
            </a:r>
            <a:r>
              <a:rPr lang="en-US" dirty="0"/>
              <a:t>) does some operations very slowly. This is partly due to the dynamic, interpreted nature of the language; types are flexible, so sequences of operations cannot be compiled down to efficient machine code as in languages like C and Fortran. This relative sluggishness of Python can generally be seen in situations where many small operations are being repeated; for instance, looping over arrays to operate on each element. </a:t>
            </a:r>
          </a:p>
          <a:p>
            <a:r>
              <a:rPr lang="en-US" dirty="0"/>
              <a:t>For many types of operations, NumPy provides a convenient interface into just this kind of statically typed, compiled routine. This is known as a vectorized operation. For simple operations like the element-wise division here, vectorization is as simple as using Python arithmetic operators directly on the array object. This vectorized approach is designed to push the loop into the compiled layer that underlies NumPy, leading to much faster execution.</a:t>
            </a:r>
          </a:p>
        </p:txBody>
      </p:sp>
    </p:spTree>
    <p:extLst>
      <p:ext uri="{BB962C8B-B14F-4D97-AF65-F5344CB8AC3E}">
        <p14:creationId xmlns:p14="http://schemas.microsoft.com/office/powerpoint/2010/main" val="12506068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80325-43F8-2CFA-C1C5-15FD31304880}"/>
              </a:ext>
            </a:extLst>
          </p:cNvPr>
          <p:cNvSpPr>
            <a:spLocks noGrp="1"/>
          </p:cNvSpPr>
          <p:nvPr>
            <p:ph type="title"/>
          </p:nvPr>
        </p:nvSpPr>
        <p:spPr/>
        <p:txBody>
          <a:bodyPr/>
          <a:lstStyle/>
          <a:p>
            <a:r>
              <a:rPr lang="en-US" dirty="0" err="1"/>
              <a:t>ufuncs</a:t>
            </a:r>
            <a:endParaRPr lang="en-US" dirty="0"/>
          </a:p>
        </p:txBody>
      </p:sp>
      <p:sp>
        <p:nvSpPr>
          <p:cNvPr id="3" name="Content Placeholder 2">
            <a:extLst>
              <a:ext uri="{FF2B5EF4-FFF2-40B4-BE49-F238E27FC236}">
                <a16:creationId xmlns:a16="http://schemas.microsoft.com/office/drawing/2014/main" id="{8BD67C79-D207-DF40-DD1D-1A01F7711AD6}"/>
              </a:ext>
            </a:extLst>
          </p:cNvPr>
          <p:cNvSpPr>
            <a:spLocks noGrp="1"/>
          </p:cNvSpPr>
          <p:nvPr>
            <p:ph idx="1"/>
          </p:nvPr>
        </p:nvSpPr>
        <p:spPr/>
        <p:txBody>
          <a:bodyPr>
            <a:normAutofit fontScale="62500" lnSpcReduction="20000"/>
          </a:bodyPr>
          <a:lstStyle/>
          <a:p>
            <a:r>
              <a:rPr lang="en-US" dirty="0"/>
              <a:t>Vectorized operations in NumPy are implemented via </a:t>
            </a:r>
            <a:r>
              <a:rPr lang="en-US" dirty="0" err="1"/>
              <a:t>ufuncs</a:t>
            </a:r>
            <a:r>
              <a:rPr lang="en-US" dirty="0"/>
              <a:t>, whose main purpose is to quickly execute repeated operations on values in NumPy arrays. </a:t>
            </a:r>
            <a:r>
              <a:rPr lang="en-US" dirty="0" err="1"/>
              <a:t>Ufuncs</a:t>
            </a:r>
            <a:r>
              <a:rPr lang="en-US" dirty="0"/>
              <a:t> are extremely flexible. Here are a few commonly used </a:t>
            </a:r>
            <a:r>
              <a:rPr lang="en-US" dirty="0" err="1"/>
              <a:t>Ufuncs</a:t>
            </a:r>
            <a:r>
              <a:rPr lang="en-US" dirty="0"/>
              <a:t>. The names are intuitive.</a:t>
            </a:r>
          </a:p>
          <a:p>
            <a:r>
              <a:rPr lang="en-US" dirty="0"/>
              <a:t>Unary functions: mod, abs, sqrt, square, exp, log, log10, sign, ceil, floor, </a:t>
            </a:r>
            <a:r>
              <a:rPr lang="en-US" dirty="0" err="1"/>
              <a:t>rint</a:t>
            </a:r>
            <a:r>
              <a:rPr lang="en-US" dirty="0"/>
              <a:t> (round to the nearest integer), </a:t>
            </a:r>
            <a:r>
              <a:rPr lang="en-US" dirty="0" err="1"/>
              <a:t>modf</a:t>
            </a:r>
            <a:r>
              <a:rPr lang="en-US" dirty="0"/>
              <a:t> (return fractional and </a:t>
            </a:r>
            <a:r>
              <a:rPr lang="en-US" dirty="0" err="1"/>
              <a:t>integeral</a:t>
            </a:r>
            <a:r>
              <a:rPr lang="en-US" dirty="0"/>
              <a:t> parts of array), </a:t>
            </a:r>
            <a:r>
              <a:rPr lang="en-US" dirty="0" err="1"/>
              <a:t>isnan</a:t>
            </a:r>
            <a:r>
              <a:rPr lang="en-US" dirty="0"/>
              <a:t> (</a:t>
            </a:r>
            <a:r>
              <a:rPr lang="en-US" dirty="0" err="1"/>
              <a:t>wether</a:t>
            </a:r>
            <a:r>
              <a:rPr lang="en-US" dirty="0"/>
              <a:t> each value is </a:t>
            </a:r>
            <a:r>
              <a:rPr lang="en-US" dirty="0" err="1"/>
              <a:t>NaN</a:t>
            </a:r>
            <a:r>
              <a:rPr lang="en-US" dirty="0"/>
              <a:t>), </a:t>
            </a:r>
            <a:r>
              <a:rPr lang="en-US" dirty="0" err="1"/>
              <a:t>isfinite</a:t>
            </a:r>
            <a:r>
              <a:rPr lang="en-US" dirty="0"/>
              <a:t>, </a:t>
            </a:r>
            <a:r>
              <a:rPr lang="en-US" dirty="0" err="1"/>
              <a:t>isinf</a:t>
            </a:r>
            <a:r>
              <a:rPr lang="en-US" dirty="0"/>
              <a:t>, cos, </a:t>
            </a:r>
            <a:r>
              <a:rPr lang="en-US" dirty="0" err="1"/>
              <a:t>cosh</a:t>
            </a:r>
            <a:r>
              <a:rPr lang="en-US" dirty="0"/>
              <a:t>, sin, </a:t>
            </a:r>
            <a:r>
              <a:rPr lang="en-US" dirty="0" err="1"/>
              <a:t>sinh</a:t>
            </a:r>
            <a:r>
              <a:rPr lang="en-US" dirty="0"/>
              <a:t>, tan, tanh, </a:t>
            </a:r>
            <a:r>
              <a:rPr lang="en-US" dirty="0" err="1"/>
              <a:t>logical_not</a:t>
            </a:r>
            <a:endParaRPr lang="en-US" dirty="0"/>
          </a:p>
          <a:p>
            <a:r>
              <a:rPr lang="en-US" dirty="0"/>
              <a:t>Binary functions: add, subtract, multiply, divide, </a:t>
            </a:r>
            <a:r>
              <a:rPr lang="en-US" dirty="0" err="1"/>
              <a:t>floor_divide</a:t>
            </a:r>
            <a:r>
              <a:rPr lang="en-US" dirty="0"/>
              <a:t>, power, maximum, minimum, mod, greater, </a:t>
            </a:r>
            <a:r>
              <a:rPr lang="en-US" dirty="0" err="1"/>
              <a:t>greater_equal</a:t>
            </a:r>
            <a:r>
              <a:rPr lang="en-US" dirty="0"/>
              <a:t>, less, </a:t>
            </a:r>
            <a:r>
              <a:rPr lang="en-US" dirty="0" err="1"/>
              <a:t>less_equal</a:t>
            </a:r>
            <a:r>
              <a:rPr lang="en-US" dirty="0"/>
              <a:t>, equal, </a:t>
            </a:r>
            <a:r>
              <a:rPr lang="en-US" dirty="0" err="1"/>
              <a:t>not_equal</a:t>
            </a:r>
            <a:r>
              <a:rPr lang="en-US" dirty="0"/>
              <a:t>, </a:t>
            </a:r>
            <a:r>
              <a:rPr lang="en-US" dirty="0" err="1"/>
              <a:t>logical_and</a:t>
            </a:r>
            <a:r>
              <a:rPr lang="en-US" dirty="0"/>
              <a:t>, </a:t>
            </a:r>
            <a:r>
              <a:rPr lang="en-US" dirty="0" err="1"/>
              <a:t>logical_or</a:t>
            </a:r>
            <a:r>
              <a:rPr lang="en-US" dirty="0"/>
              <a:t>, </a:t>
            </a:r>
            <a:r>
              <a:rPr lang="en-US" dirty="0" err="1"/>
              <a:t>logical_xor</a:t>
            </a:r>
            <a:r>
              <a:rPr lang="en-US" dirty="0"/>
              <a:t>.</a:t>
            </a:r>
          </a:p>
          <a:p>
            <a:r>
              <a:rPr lang="en-US" dirty="0"/>
              <a:t>Statistical Methods: sum, mean, std, var, min, max, </a:t>
            </a:r>
            <a:r>
              <a:rPr lang="en-US" dirty="0" err="1"/>
              <a:t>cumsum</a:t>
            </a:r>
            <a:r>
              <a:rPr lang="en-US" dirty="0"/>
              <a:t>, </a:t>
            </a:r>
            <a:r>
              <a:rPr lang="en-US" dirty="0" err="1"/>
              <a:t>cumprod</a:t>
            </a:r>
            <a:endParaRPr lang="en-US" dirty="0"/>
          </a:p>
          <a:p>
            <a:r>
              <a:rPr lang="en-US" dirty="0"/>
              <a:t>Other Methods: sort, unique, intersect1d, union1dalent to ~</a:t>
            </a:r>
            <a:r>
              <a:rPr lang="en-US" dirty="0" err="1"/>
              <a:t>arr</a:t>
            </a:r>
            <a:r>
              <a:rPr lang="en-US" dirty="0"/>
              <a:t>)</a:t>
            </a:r>
          </a:p>
        </p:txBody>
      </p:sp>
    </p:spTree>
    <p:extLst>
      <p:ext uri="{BB962C8B-B14F-4D97-AF65-F5344CB8AC3E}">
        <p14:creationId xmlns:p14="http://schemas.microsoft.com/office/powerpoint/2010/main" val="25473756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66DD6-4382-34DB-A2E5-B9A0D8753064}"/>
              </a:ext>
            </a:extLst>
          </p:cNvPr>
          <p:cNvSpPr>
            <a:spLocks noGrp="1"/>
          </p:cNvSpPr>
          <p:nvPr>
            <p:ph type="title"/>
          </p:nvPr>
        </p:nvSpPr>
        <p:spPr/>
        <p:txBody>
          <a:bodyPr/>
          <a:lstStyle/>
          <a:p>
            <a:r>
              <a:rPr lang="en-US" dirty="0"/>
              <a:t>Vectorized operations</a:t>
            </a:r>
          </a:p>
        </p:txBody>
      </p:sp>
      <p:sp>
        <p:nvSpPr>
          <p:cNvPr id="3" name="Content Placeholder 2">
            <a:extLst>
              <a:ext uri="{FF2B5EF4-FFF2-40B4-BE49-F238E27FC236}">
                <a16:creationId xmlns:a16="http://schemas.microsoft.com/office/drawing/2014/main" id="{6CE0B1C6-546F-498C-9160-146E63C7ABEC}"/>
              </a:ext>
            </a:extLst>
          </p:cNvPr>
          <p:cNvSpPr>
            <a:spLocks noGrp="1"/>
          </p:cNvSpPr>
          <p:nvPr>
            <p:ph idx="1"/>
          </p:nvPr>
        </p:nvSpPr>
        <p:spPr/>
        <p:txBody>
          <a:bodyPr/>
          <a:lstStyle/>
          <a:p>
            <a:r>
              <a:rPr lang="en-US" dirty="0"/>
              <a:t>Elementwise operations can be conducted using loops, but loops in Python are slow. </a:t>
            </a:r>
          </a:p>
          <a:p>
            <a:r>
              <a:rPr lang="en-US" dirty="0"/>
              <a:t>Instead </a:t>
            </a:r>
            <a:r>
              <a:rPr lang="en-US" dirty="0" err="1"/>
              <a:t>numpy</a:t>
            </a:r>
            <a:r>
              <a:rPr lang="en-US" dirty="0"/>
              <a:t> conducts vectorized operations where in the operation is carried out in C, a low-level language.</a:t>
            </a:r>
          </a:p>
          <a:p>
            <a:r>
              <a:rPr lang="en-US" dirty="0"/>
              <a:t>Native Python functions can be vectorized by passing them to </a:t>
            </a:r>
            <a:r>
              <a:rPr lang="en-US" dirty="0" err="1"/>
              <a:t>numpy.vectorize</a:t>
            </a:r>
            <a:r>
              <a:rPr lang="en-US" dirty="0"/>
              <a:t>()</a:t>
            </a:r>
          </a:p>
        </p:txBody>
      </p:sp>
    </p:spTree>
    <p:extLst>
      <p:ext uri="{BB962C8B-B14F-4D97-AF65-F5344CB8AC3E}">
        <p14:creationId xmlns:p14="http://schemas.microsoft.com/office/powerpoint/2010/main" val="677867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17EDF-7785-6ED3-2780-0E74D1E3EE3C}"/>
              </a:ext>
            </a:extLst>
          </p:cNvPr>
          <p:cNvSpPr>
            <a:spLocks noGrp="1"/>
          </p:cNvSpPr>
          <p:nvPr>
            <p:ph type="title"/>
          </p:nvPr>
        </p:nvSpPr>
        <p:spPr/>
        <p:txBody>
          <a:bodyPr/>
          <a:lstStyle/>
          <a:p>
            <a:r>
              <a:rPr lang="en-US" dirty="0"/>
              <a:t>Universal Functions</a:t>
            </a:r>
          </a:p>
        </p:txBody>
      </p:sp>
      <p:sp>
        <p:nvSpPr>
          <p:cNvPr id="3" name="Content Placeholder 2">
            <a:extLst>
              <a:ext uri="{FF2B5EF4-FFF2-40B4-BE49-F238E27FC236}">
                <a16:creationId xmlns:a16="http://schemas.microsoft.com/office/drawing/2014/main" id="{E9F7C303-B66D-6967-1D5D-DB2022DF3FEC}"/>
              </a:ext>
            </a:extLst>
          </p:cNvPr>
          <p:cNvSpPr>
            <a:spLocks noGrp="1"/>
          </p:cNvSpPr>
          <p:nvPr>
            <p:ph idx="1"/>
          </p:nvPr>
        </p:nvSpPr>
        <p:spPr/>
        <p:txBody>
          <a:bodyPr>
            <a:normAutofit fontScale="70000" lnSpcReduction="20000"/>
          </a:bodyPr>
          <a:lstStyle/>
          <a:p>
            <a:pPr marL="0" indent="0">
              <a:buNone/>
            </a:pPr>
            <a:r>
              <a:rPr lang="en-US" dirty="0"/>
              <a:t>Universal functions perform elementwise operations on </a:t>
            </a:r>
            <a:r>
              <a:rPr lang="en-US" dirty="0" err="1"/>
              <a:t>ndarrays</a:t>
            </a:r>
            <a:r>
              <a:rPr lang="en-US" dirty="0"/>
              <a:t>. Here are a few commonly used functions. The names are intuitive.</a:t>
            </a:r>
          </a:p>
          <a:p>
            <a:r>
              <a:rPr lang="en-US" dirty="0"/>
              <a:t>Unary functions: abs, sqrt, square, exp, log, log10, sign, ceil, floor, </a:t>
            </a:r>
            <a:r>
              <a:rPr lang="en-US" dirty="0" err="1"/>
              <a:t>rint</a:t>
            </a:r>
            <a:r>
              <a:rPr lang="en-US" dirty="0"/>
              <a:t> (round to the nearest integer), </a:t>
            </a:r>
            <a:r>
              <a:rPr lang="en-US" dirty="0" err="1"/>
              <a:t>modf</a:t>
            </a:r>
            <a:r>
              <a:rPr lang="en-US" dirty="0"/>
              <a:t> (return fractional and </a:t>
            </a:r>
            <a:r>
              <a:rPr lang="en-US" dirty="0" err="1"/>
              <a:t>integeral</a:t>
            </a:r>
            <a:r>
              <a:rPr lang="en-US" dirty="0"/>
              <a:t> parts of array), </a:t>
            </a:r>
            <a:r>
              <a:rPr lang="en-US" dirty="0" err="1"/>
              <a:t>isnan</a:t>
            </a:r>
            <a:r>
              <a:rPr lang="en-US" dirty="0"/>
              <a:t> (</a:t>
            </a:r>
            <a:r>
              <a:rPr lang="en-US" dirty="0" err="1"/>
              <a:t>wether</a:t>
            </a:r>
            <a:r>
              <a:rPr lang="en-US" dirty="0"/>
              <a:t> each value is </a:t>
            </a:r>
            <a:r>
              <a:rPr lang="en-US" dirty="0" err="1"/>
              <a:t>NaN</a:t>
            </a:r>
            <a:r>
              <a:rPr lang="en-US" dirty="0"/>
              <a:t>), </a:t>
            </a:r>
            <a:r>
              <a:rPr lang="en-US" dirty="0" err="1"/>
              <a:t>isfinite</a:t>
            </a:r>
            <a:r>
              <a:rPr lang="en-US" dirty="0"/>
              <a:t>, </a:t>
            </a:r>
            <a:r>
              <a:rPr lang="en-US" dirty="0" err="1"/>
              <a:t>isinf</a:t>
            </a:r>
            <a:r>
              <a:rPr lang="en-US" dirty="0"/>
              <a:t>, cos, </a:t>
            </a:r>
            <a:r>
              <a:rPr lang="en-US" dirty="0" err="1"/>
              <a:t>cosh</a:t>
            </a:r>
            <a:r>
              <a:rPr lang="en-US" dirty="0"/>
              <a:t>, sin, </a:t>
            </a:r>
            <a:r>
              <a:rPr lang="en-US" dirty="0" err="1"/>
              <a:t>sinh</a:t>
            </a:r>
            <a:r>
              <a:rPr lang="en-US" dirty="0"/>
              <a:t>, tan, tanh, </a:t>
            </a:r>
            <a:r>
              <a:rPr lang="en-US" dirty="0" err="1"/>
              <a:t>logical_not</a:t>
            </a:r>
            <a:endParaRPr lang="en-US" dirty="0"/>
          </a:p>
          <a:p>
            <a:r>
              <a:rPr lang="en-US" dirty="0"/>
              <a:t>Binary functions: add, subtract, multiply, divide, </a:t>
            </a:r>
            <a:r>
              <a:rPr lang="en-US" dirty="0" err="1"/>
              <a:t>floor_divide</a:t>
            </a:r>
            <a:r>
              <a:rPr lang="en-US" dirty="0"/>
              <a:t>, power, maximum, minimum, mod, greater, </a:t>
            </a:r>
            <a:r>
              <a:rPr lang="en-US" dirty="0" err="1"/>
              <a:t>greater_equal</a:t>
            </a:r>
            <a:r>
              <a:rPr lang="en-US" dirty="0"/>
              <a:t>, less, </a:t>
            </a:r>
            <a:r>
              <a:rPr lang="en-US" dirty="0" err="1"/>
              <a:t>less_equal</a:t>
            </a:r>
            <a:r>
              <a:rPr lang="en-US" dirty="0"/>
              <a:t>, equal, </a:t>
            </a:r>
            <a:r>
              <a:rPr lang="en-US" dirty="0" err="1"/>
              <a:t>not_equal</a:t>
            </a:r>
            <a:r>
              <a:rPr lang="en-US" dirty="0"/>
              <a:t>, </a:t>
            </a:r>
            <a:r>
              <a:rPr lang="en-US" dirty="0" err="1"/>
              <a:t>logical_and</a:t>
            </a:r>
            <a:r>
              <a:rPr lang="en-US" dirty="0"/>
              <a:t>, </a:t>
            </a:r>
            <a:r>
              <a:rPr lang="en-US" dirty="0" err="1"/>
              <a:t>logical_or</a:t>
            </a:r>
            <a:r>
              <a:rPr lang="en-US" dirty="0"/>
              <a:t>, </a:t>
            </a:r>
            <a:r>
              <a:rPr lang="en-US" dirty="0" err="1"/>
              <a:t>logical_xor</a:t>
            </a:r>
            <a:r>
              <a:rPr lang="en-US" dirty="0"/>
              <a:t>.</a:t>
            </a:r>
          </a:p>
          <a:p>
            <a:r>
              <a:rPr lang="en-US" dirty="0"/>
              <a:t>Statistical Methods: sum, mean, std, var, min, max, </a:t>
            </a:r>
            <a:r>
              <a:rPr lang="en-US" dirty="0" err="1"/>
              <a:t>cumsum</a:t>
            </a:r>
            <a:r>
              <a:rPr lang="en-US" dirty="0"/>
              <a:t>, </a:t>
            </a:r>
            <a:r>
              <a:rPr lang="en-US" dirty="0" err="1"/>
              <a:t>cumprod</a:t>
            </a:r>
            <a:endParaRPr lang="en-US" dirty="0"/>
          </a:p>
          <a:p>
            <a:r>
              <a:rPr lang="en-US" dirty="0"/>
              <a:t>Other Methods: sort, unique, intersect1d, union1dalent to ~</a:t>
            </a:r>
            <a:r>
              <a:rPr lang="en-US" dirty="0" err="1"/>
              <a:t>arr</a:t>
            </a:r>
            <a:endParaRPr lang="en-US" dirty="0"/>
          </a:p>
        </p:txBody>
      </p:sp>
    </p:spTree>
    <p:extLst>
      <p:ext uri="{BB962C8B-B14F-4D97-AF65-F5344CB8AC3E}">
        <p14:creationId xmlns:p14="http://schemas.microsoft.com/office/powerpoint/2010/main" val="41967768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A3E26-A6F7-3EC8-E5E8-D98A5A193C4C}"/>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ECB0454D-B972-B289-A17B-32807166370D}"/>
              </a:ext>
            </a:extLst>
          </p:cNvPr>
          <p:cNvSpPr>
            <a:spLocks noGrp="1"/>
          </p:cNvSpPr>
          <p:nvPr>
            <p:ph idx="1"/>
          </p:nvPr>
        </p:nvSpPr>
        <p:spPr/>
        <p:txBody>
          <a:bodyPr/>
          <a:lstStyle/>
          <a:p>
            <a:r>
              <a:rPr lang="en-US" dirty="0" err="1"/>
              <a:t>numpy</a:t>
            </a:r>
            <a:r>
              <a:rPr lang="en-US" dirty="0"/>
              <a:t> makes Python a powerful data analysis language</a:t>
            </a:r>
          </a:p>
          <a:p>
            <a:pPr lvl="1"/>
            <a:r>
              <a:rPr lang="en-US" dirty="0"/>
              <a:t>Useful data structures</a:t>
            </a:r>
          </a:p>
          <a:p>
            <a:pPr lvl="1"/>
            <a:r>
              <a:rPr lang="en-US" dirty="0"/>
              <a:t>Efficient vectorized operations</a:t>
            </a:r>
          </a:p>
          <a:p>
            <a:pPr lvl="1"/>
            <a:r>
              <a:rPr lang="en-US" dirty="0"/>
              <a:t>Useful data-analysis functions</a:t>
            </a:r>
          </a:p>
          <a:p>
            <a:pPr lvl="1"/>
            <a:r>
              <a:rPr lang="en-US" dirty="0"/>
              <a:t>Foundation for other data analysis libraries such as pandas and scikit-learn. </a:t>
            </a:r>
          </a:p>
        </p:txBody>
      </p:sp>
    </p:spTree>
    <p:extLst>
      <p:ext uri="{BB962C8B-B14F-4D97-AF65-F5344CB8AC3E}">
        <p14:creationId xmlns:p14="http://schemas.microsoft.com/office/powerpoint/2010/main" val="19003584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7B979-767D-329D-E530-1E38B29D2FE2}"/>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A1D7182A-872E-64CE-0A6E-A81EF492E5E5}"/>
              </a:ext>
            </a:extLst>
          </p:cNvPr>
          <p:cNvSpPr>
            <a:spLocks noGrp="1"/>
          </p:cNvSpPr>
          <p:nvPr>
            <p:ph idx="1"/>
          </p:nvPr>
        </p:nvSpPr>
        <p:spPr/>
        <p:txBody>
          <a:bodyPr/>
          <a:lstStyle/>
          <a:p>
            <a:r>
              <a:rPr lang="en-US" dirty="0"/>
              <a:t>Python for Data Analysis by Wes McKinney. O’Reilly Media, 2023.</a:t>
            </a:r>
          </a:p>
          <a:p>
            <a:r>
              <a:rPr lang="en-US" dirty="0"/>
              <a:t>Python Data Science Handbook, 2nd Edition by Jake </a:t>
            </a:r>
            <a:r>
              <a:rPr lang="en-US" dirty="0" err="1"/>
              <a:t>VanderPlas</a:t>
            </a:r>
            <a:r>
              <a:rPr lang="en-US" dirty="0"/>
              <a:t>, O’Reilly Media, 2022.</a:t>
            </a:r>
          </a:p>
          <a:p>
            <a:endParaRPr lang="en-US" dirty="0"/>
          </a:p>
        </p:txBody>
      </p:sp>
    </p:spTree>
    <p:extLst>
      <p:ext uri="{BB962C8B-B14F-4D97-AF65-F5344CB8AC3E}">
        <p14:creationId xmlns:p14="http://schemas.microsoft.com/office/powerpoint/2010/main" val="17613110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D4B40A5-E5F7-781E-3B89-37D6908D4C83}"/>
              </a:ext>
            </a:extLst>
          </p:cNvPr>
          <p:cNvSpPr>
            <a:spLocks noGrp="1"/>
          </p:cNvSpPr>
          <p:nvPr>
            <p:ph type="ctrTitle"/>
          </p:nvPr>
        </p:nvSpPr>
        <p:spPr/>
        <p:txBody>
          <a:bodyPr/>
          <a:lstStyle/>
          <a:p>
            <a:r>
              <a:rPr lang="en-US" dirty="0"/>
              <a:t>Groups</a:t>
            </a:r>
          </a:p>
        </p:txBody>
      </p:sp>
      <p:sp>
        <p:nvSpPr>
          <p:cNvPr id="7" name="Subtitle 6">
            <a:extLst>
              <a:ext uri="{FF2B5EF4-FFF2-40B4-BE49-F238E27FC236}">
                <a16:creationId xmlns:a16="http://schemas.microsoft.com/office/drawing/2014/main" id="{10E09CAA-2C23-0DF1-1ECE-1F2AD3A9B657}"/>
              </a:ext>
            </a:extLst>
          </p:cNvPr>
          <p:cNvSpPr>
            <a:spLocks noGrp="1"/>
          </p:cNvSpPr>
          <p:nvPr>
            <p:ph type="subTitle" idx="1"/>
          </p:nvPr>
        </p:nvSpPr>
        <p:spPr/>
        <p:txBody>
          <a:bodyPr/>
          <a:lstStyle/>
          <a:p>
            <a:endParaRPr lang="en-US"/>
          </a:p>
        </p:txBody>
      </p:sp>
      <p:sp>
        <p:nvSpPr>
          <p:cNvPr id="4" name="Footer Placeholder 3">
            <a:extLst>
              <a:ext uri="{FF2B5EF4-FFF2-40B4-BE49-F238E27FC236}">
                <a16:creationId xmlns:a16="http://schemas.microsoft.com/office/drawing/2014/main" id="{2CA9C728-E4EF-36AB-D507-D31655A99589}"/>
              </a:ext>
            </a:extLst>
          </p:cNvPr>
          <p:cNvSpPr>
            <a:spLocks noGrp="1"/>
          </p:cNvSpPr>
          <p:nvPr>
            <p:ph type="ftr" sz="quarter" idx="11"/>
          </p:nvPr>
        </p:nvSpPr>
        <p:spPr/>
        <p:txBody>
          <a:bodyPr/>
          <a:lstStyle/>
          <a:p>
            <a:r>
              <a:rPr lang="en-US"/>
              <a:t>© 2026 Vishal Lala</a:t>
            </a:r>
          </a:p>
        </p:txBody>
      </p:sp>
      <p:sp>
        <p:nvSpPr>
          <p:cNvPr id="5" name="Slide Number Placeholder 4">
            <a:extLst>
              <a:ext uri="{FF2B5EF4-FFF2-40B4-BE49-F238E27FC236}">
                <a16:creationId xmlns:a16="http://schemas.microsoft.com/office/drawing/2014/main" id="{9BBE3673-7417-A7BF-F0FB-372C3BE3AF82}"/>
              </a:ext>
            </a:extLst>
          </p:cNvPr>
          <p:cNvSpPr>
            <a:spLocks noGrp="1"/>
          </p:cNvSpPr>
          <p:nvPr>
            <p:ph type="sldNum" sz="quarter" idx="12"/>
          </p:nvPr>
        </p:nvSpPr>
        <p:spPr/>
        <p:txBody>
          <a:bodyPr/>
          <a:lstStyle/>
          <a:p>
            <a:fld id="{B9FD85AE-1124-49A6-8860-0DC337D80F96}" type="slidenum">
              <a:rPr lang="en-US" smtClean="0"/>
              <a:t>49</a:t>
            </a:fld>
            <a:endParaRPr lang="en-US"/>
          </a:p>
        </p:txBody>
      </p:sp>
    </p:spTree>
    <p:extLst>
      <p:ext uri="{BB962C8B-B14F-4D97-AF65-F5344CB8AC3E}">
        <p14:creationId xmlns:p14="http://schemas.microsoft.com/office/powerpoint/2010/main" val="35794035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8C0B2-93CF-CE18-01FA-927513771AAF}"/>
              </a:ext>
            </a:extLst>
          </p:cNvPr>
          <p:cNvSpPr>
            <a:spLocks noGrp="1"/>
          </p:cNvSpPr>
          <p:nvPr>
            <p:ph type="title"/>
          </p:nvPr>
        </p:nvSpPr>
        <p:spPr/>
        <p:txBody>
          <a:bodyPr/>
          <a:lstStyle/>
          <a:p>
            <a:r>
              <a:rPr lang="en-US" dirty="0"/>
              <a:t>Groups</a:t>
            </a:r>
          </a:p>
        </p:txBody>
      </p:sp>
      <p:sp>
        <p:nvSpPr>
          <p:cNvPr id="3" name="Content Placeholder 2">
            <a:extLst>
              <a:ext uri="{FF2B5EF4-FFF2-40B4-BE49-F238E27FC236}">
                <a16:creationId xmlns:a16="http://schemas.microsoft.com/office/drawing/2014/main" id="{0B7C3542-E48E-3A6C-96AD-D020FC9DB741}"/>
              </a:ext>
            </a:extLst>
          </p:cNvPr>
          <p:cNvSpPr>
            <a:spLocks noGrp="1"/>
          </p:cNvSpPr>
          <p:nvPr>
            <p:ph idx="1"/>
          </p:nvPr>
        </p:nvSpPr>
        <p:spPr/>
        <p:txBody>
          <a:bodyPr>
            <a:normAutofit/>
          </a:bodyPr>
          <a:lstStyle/>
          <a:p>
            <a:r>
              <a:rPr lang="en-US" sz="2400" dirty="0"/>
              <a:t>Pair up with another student</a:t>
            </a:r>
          </a:p>
          <a:p>
            <a:r>
              <a:rPr lang="en-US" sz="2400" dirty="0"/>
              <a:t>Decide on a group name</a:t>
            </a:r>
          </a:p>
        </p:txBody>
      </p:sp>
      <p:sp>
        <p:nvSpPr>
          <p:cNvPr id="4" name="Footer Placeholder 3">
            <a:extLst>
              <a:ext uri="{FF2B5EF4-FFF2-40B4-BE49-F238E27FC236}">
                <a16:creationId xmlns:a16="http://schemas.microsoft.com/office/drawing/2014/main" id="{AF3C7193-EF9C-C27D-15E5-7CA08599D8DD}"/>
              </a:ext>
            </a:extLst>
          </p:cNvPr>
          <p:cNvSpPr>
            <a:spLocks noGrp="1"/>
          </p:cNvSpPr>
          <p:nvPr>
            <p:ph type="ftr" sz="quarter" idx="11"/>
          </p:nvPr>
        </p:nvSpPr>
        <p:spPr/>
        <p:txBody>
          <a:bodyPr/>
          <a:lstStyle/>
          <a:p>
            <a:r>
              <a:rPr lang="en-US"/>
              <a:t>© 2026 Vishal Lala</a:t>
            </a:r>
          </a:p>
        </p:txBody>
      </p:sp>
      <p:sp>
        <p:nvSpPr>
          <p:cNvPr id="5" name="Slide Number Placeholder 4">
            <a:extLst>
              <a:ext uri="{FF2B5EF4-FFF2-40B4-BE49-F238E27FC236}">
                <a16:creationId xmlns:a16="http://schemas.microsoft.com/office/drawing/2014/main" id="{1F18B5E7-1EF2-1C59-8A78-814F8E8EC239}"/>
              </a:ext>
            </a:extLst>
          </p:cNvPr>
          <p:cNvSpPr>
            <a:spLocks noGrp="1"/>
          </p:cNvSpPr>
          <p:nvPr>
            <p:ph type="sldNum" sz="quarter" idx="12"/>
          </p:nvPr>
        </p:nvSpPr>
        <p:spPr/>
        <p:txBody>
          <a:bodyPr/>
          <a:lstStyle/>
          <a:p>
            <a:fld id="{B9FD85AE-1124-49A6-8860-0DC337D80F96}" type="slidenum">
              <a:rPr lang="en-US" smtClean="0"/>
              <a:t>50</a:t>
            </a:fld>
            <a:endParaRPr lang="en-US"/>
          </a:p>
        </p:txBody>
      </p:sp>
    </p:spTree>
    <p:extLst>
      <p:ext uri="{BB962C8B-B14F-4D97-AF65-F5344CB8AC3E}">
        <p14:creationId xmlns:p14="http://schemas.microsoft.com/office/powerpoint/2010/main" val="2571070049"/>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3.xml><?xml version="1.0" encoding="utf-8"?>
<a:theme xmlns:a="http://schemas.openxmlformats.org/drawingml/2006/main" name="1_Gallery">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Crop</Template>
  <TotalTime>1616</TotalTime>
  <Words>2621</Words>
  <Application>Microsoft Office PowerPoint</Application>
  <PresentationFormat>Widescreen</PresentationFormat>
  <Paragraphs>222</Paragraphs>
  <Slides>50</Slides>
  <Notes>4</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50</vt:i4>
      </vt:variant>
    </vt:vector>
  </HeadingPairs>
  <TitlesOfParts>
    <vt:vector size="58" baseType="lpstr">
      <vt:lpstr>Aptos</vt:lpstr>
      <vt:lpstr>Arial</vt:lpstr>
      <vt:lpstr>Calibri</vt:lpstr>
      <vt:lpstr>Franklin Gothic Book</vt:lpstr>
      <vt:lpstr>Gill Sans MT</vt:lpstr>
      <vt:lpstr>Crop</vt:lpstr>
      <vt:lpstr>Gallery</vt:lpstr>
      <vt:lpstr>1_Gallery</vt:lpstr>
      <vt:lpstr>Data Analytics</vt:lpstr>
      <vt:lpstr>Agenda</vt:lpstr>
      <vt:lpstr>Data Structures</vt:lpstr>
      <vt:lpstr>Outline</vt:lpstr>
      <vt:lpstr>Tuple</vt:lpstr>
      <vt:lpstr>Tuple</vt:lpstr>
      <vt:lpstr>List</vt:lpstr>
      <vt:lpstr>List</vt:lpstr>
      <vt:lpstr>Methods</vt:lpstr>
      <vt:lpstr>Slicing</vt:lpstr>
      <vt:lpstr>Dictionary</vt:lpstr>
      <vt:lpstr>Dictionary</vt:lpstr>
      <vt:lpstr>Dictionary</vt:lpstr>
      <vt:lpstr>Set</vt:lpstr>
      <vt:lpstr>Set</vt:lpstr>
      <vt:lpstr>Class</vt:lpstr>
      <vt:lpstr>Class</vt:lpstr>
      <vt:lpstr>Conclusion</vt:lpstr>
      <vt:lpstr>NumPy</vt:lpstr>
      <vt:lpstr>NUMPY</vt:lpstr>
      <vt:lpstr>PowerPoint Presentation</vt:lpstr>
      <vt:lpstr>Key Features</vt:lpstr>
      <vt:lpstr>Our Focus</vt:lpstr>
      <vt:lpstr>Creating an Array</vt:lpstr>
      <vt:lpstr>Array</vt:lpstr>
      <vt:lpstr>Creating an Array</vt:lpstr>
      <vt:lpstr>Dimensions</vt:lpstr>
      <vt:lpstr>dtype</vt:lpstr>
      <vt:lpstr>Numpy vs. </vt:lpstr>
      <vt:lpstr>Dtype</vt:lpstr>
      <vt:lpstr>Element Wise operation</vt:lpstr>
      <vt:lpstr>Broadcasting</vt:lpstr>
      <vt:lpstr>Broadcasting</vt:lpstr>
      <vt:lpstr>Indexing 1-d array</vt:lpstr>
      <vt:lpstr>Indexing and Slicing</vt:lpstr>
      <vt:lpstr>Indexing 2-d array </vt:lpstr>
      <vt:lpstr>Indexing and Slicing</vt:lpstr>
      <vt:lpstr>Slicing 1-d array</vt:lpstr>
      <vt:lpstr>Slicing 2-d array</vt:lpstr>
      <vt:lpstr>Boolean Indexing</vt:lpstr>
      <vt:lpstr>Find and replace</vt:lpstr>
      <vt:lpstr>Useful numpy methods</vt:lpstr>
      <vt:lpstr>Vectorized operations and ufuncs</vt:lpstr>
      <vt:lpstr>ufuncs</vt:lpstr>
      <vt:lpstr>Vectorized operations</vt:lpstr>
      <vt:lpstr>Universal Functions</vt:lpstr>
      <vt:lpstr>Summary</vt:lpstr>
      <vt:lpstr>References</vt:lpstr>
      <vt:lpstr>Groups</vt:lpstr>
      <vt:lpstr>Groups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Lala, Dr. Vishal</dc:creator>
  <cp:lastModifiedBy>Vishal Lala</cp:lastModifiedBy>
  <cp:revision>42</cp:revision>
  <dcterms:created xsi:type="dcterms:W3CDTF">2019-09-20T19:58:07Z</dcterms:created>
  <dcterms:modified xsi:type="dcterms:W3CDTF">2026-06-30T02:06:40Z</dcterms:modified>
</cp:coreProperties>
</file>